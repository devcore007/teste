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Tomorrow Bold" charset="1" panose="00000000000000000000"/>
      <p:regular r:id="rId19"/>
    </p:embeddedFont>
    <p:embeddedFont>
      <p:font typeface="Roboto" charset="1" panose="02000000000000000000"/>
      <p:regular r:id="rId20"/>
    </p:embeddedFont>
    <p:embeddedFont>
      <p:font typeface="Open Sans" charset="1" panose="020B0606030504020204"/>
      <p:regular r:id="rId21"/>
    </p:embeddedFont>
    <p:embeddedFont>
      <p:font typeface="Tomorrow" charset="1" panose="00000000000000000000"/>
      <p:regular r:id="rId22"/>
    </p:embeddedFont>
    <p:embeddedFont>
      <p:font typeface="Open Sans Bold" charset="1" panose="020B0806030504020204"/>
      <p:regular r:id="rId23"/>
    </p:embeddedFont>
    <p:embeddedFont>
      <p:font typeface="Poppins"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jpe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jpeg" Type="http://schemas.openxmlformats.org/officeDocument/2006/relationships/image"/><Relationship Id="rId11" Target="../media/image20.png" Type="http://schemas.openxmlformats.org/officeDocument/2006/relationships/image"/><Relationship Id="rId12" Target="../media/image21.jpeg" Type="http://schemas.openxmlformats.org/officeDocument/2006/relationships/image"/><Relationship Id="rId13" Target="../media/image9.jpeg" Type="http://schemas.openxmlformats.org/officeDocument/2006/relationships/image"/><Relationship Id="rId14" Target="../media/image10.pn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jpe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jpeg" Type="http://schemas.openxmlformats.org/officeDocument/2006/relationships/image"/><Relationship Id="rId7"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9.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jpeg" Type="http://schemas.openxmlformats.org/officeDocument/2006/relationships/image"/><Relationship Id="rId5"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12" Target="../media/image27.png" Type="http://schemas.openxmlformats.org/officeDocument/2006/relationships/image"/><Relationship Id="rId13" Target="../media/image10.png" Type="http://schemas.openxmlformats.org/officeDocument/2006/relationships/image"/><Relationship Id="rId14" Target="../media/image28.png" Type="http://schemas.openxmlformats.org/officeDocument/2006/relationships/image"/><Relationship Id="rId15" Target="../media/image29.png" Type="http://schemas.openxmlformats.org/officeDocument/2006/relationships/image"/><Relationship Id="rId16" Target="../media/image30.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9.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jpeg" Type="http://schemas.openxmlformats.org/officeDocument/2006/relationships/image"/><Relationship Id="rId7" Target="../media/image31.png" Type="http://schemas.openxmlformats.org/officeDocument/2006/relationships/image"/><Relationship Id="rId8"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jpeg" Type="http://schemas.openxmlformats.org/officeDocument/2006/relationships/image"/><Relationship Id="rId5"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jpeg" Type="http://schemas.openxmlformats.org/officeDocument/2006/relationships/image"/><Relationship Id="rId7"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jpeg" Type="http://schemas.openxmlformats.org/officeDocument/2006/relationships/image"/><Relationship Id="rId7"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jpe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 Id="rId8" Target="../media/image36.png" Type="http://schemas.openxmlformats.org/officeDocument/2006/relationships/image"/><Relationship Id="rId9" Target="../media/image3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jpeg" Type="http://schemas.openxmlformats.org/officeDocument/2006/relationships/image"/><Relationship Id="rId5"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9.jpeg" Type="http://schemas.openxmlformats.org/officeDocument/2006/relationships/image"/><Relationship Id="rId7" Target="../media/image1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69405" y="9138308"/>
            <a:ext cx="1754675" cy="1148692"/>
            <a:chOff x="0" y="0"/>
            <a:chExt cx="1086388" cy="711200"/>
          </a:xfrm>
        </p:grpSpPr>
        <p:sp>
          <p:nvSpPr>
            <p:cNvPr name="Freeform 3" id="3"/>
            <p:cNvSpPr/>
            <p:nvPr/>
          </p:nvSpPr>
          <p:spPr>
            <a:xfrm flipH="false" flipV="false" rot="0">
              <a:off x="0" y="0"/>
              <a:ext cx="1086388" cy="711200"/>
            </a:xfrm>
            <a:custGeom>
              <a:avLst/>
              <a:gdLst/>
              <a:ahLst/>
              <a:cxnLst/>
              <a:rect r="r" b="b" t="t" l="l"/>
              <a:pathLst>
                <a:path h="711200" w="1086388">
                  <a:moveTo>
                    <a:pt x="543194" y="0"/>
                  </a:moveTo>
                  <a:lnTo>
                    <a:pt x="1086388" y="711200"/>
                  </a:lnTo>
                  <a:lnTo>
                    <a:pt x="0" y="711200"/>
                  </a:lnTo>
                  <a:lnTo>
                    <a:pt x="543194" y="0"/>
                  </a:lnTo>
                  <a:close/>
                </a:path>
              </a:pathLst>
            </a:custGeom>
            <a:solidFill>
              <a:srgbClr val="2E3094"/>
            </a:solidFill>
          </p:spPr>
        </p:sp>
        <p:sp>
          <p:nvSpPr>
            <p:cNvPr name="TextBox 4" id="4"/>
            <p:cNvSpPr txBox="true"/>
            <p:nvPr/>
          </p:nvSpPr>
          <p:spPr>
            <a:xfrm>
              <a:off x="169748" y="263525"/>
              <a:ext cx="746892" cy="396875"/>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0">
            <a:off x="0" y="7334893"/>
            <a:ext cx="9446743" cy="2952107"/>
          </a:xfrm>
          <a:custGeom>
            <a:avLst/>
            <a:gdLst/>
            <a:ahLst/>
            <a:cxnLst/>
            <a:rect r="r" b="b" t="t" l="l"/>
            <a:pathLst>
              <a:path h="2952107" w="9446743">
                <a:moveTo>
                  <a:pt x="0" y="0"/>
                </a:moveTo>
                <a:lnTo>
                  <a:pt x="9446743" y="0"/>
                </a:lnTo>
                <a:lnTo>
                  <a:pt x="9446743" y="2952107"/>
                </a:lnTo>
                <a:lnTo>
                  <a:pt x="0" y="29521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10800000">
            <a:off x="8063970" y="-84680"/>
            <a:ext cx="2160059" cy="1414075"/>
            <a:chOff x="0" y="0"/>
            <a:chExt cx="1086388" cy="711200"/>
          </a:xfrm>
        </p:grpSpPr>
        <p:sp>
          <p:nvSpPr>
            <p:cNvPr name="Freeform 7" id="7"/>
            <p:cNvSpPr/>
            <p:nvPr/>
          </p:nvSpPr>
          <p:spPr>
            <a:xfrm flipH="false" flipV="false" rot="0">
              <a:off x="0" y="0"/>
              <a:ext cx="1086388" cy="711200"/>
            </a:xfrm>
            <a:custGeom>
              <a:avLst/>
              <a:gdLst/>
              <a:ahLst/>
              <a:cxnLst/>
              <a:rect r="r" b="b" t="t" l="l"/>
              <a:pathLst>
                <a:path h="711200" w="1086388">
                  <a:moveTo>
                    <a:pt x="543194" y="0"/>
                  </a:moveTo>
                  <a:lnTo>
                    <a:pt x="1086388" y="711200"/>
                  </a:lnTo>
                  <a:lnTo>
                    <a:pt x="0" y="711200"/>
                  </a:lnTo>
                  <a:lnTo>
                    <a:pt x="543194" y="0"/>
                  </a:lnTo>
                  <a:close/>
                </a:path>
              </a:pathLst>
            </a:custGeom>
            <a:solidFill>
              <a:srgbClr val="2E3094"/>
            </a:solidFill>
          </p:spPr>
        </p:sp>
        <p:sp>
          <p:nvSpPr>
            <p:cNvPr name="TextBox 8" id="8"/>
            <p:cNvSpPr txBox="true"/>
            <p:nvPr/>
          </p:nvSpPr>
          <p:spPr>
            <a:xfrm>
              <a:off x="169748" y="263525"/>
              <a:ext cx="746892" cy="396875"/>
            </a:xfrm>
            <a:prstGeom prst="rect">
              <a:avLst/>
            </a:prstGeom>
          </p:spPr>
          <p:txBody>
            <a:bodyPr anchor="ctr" rtlCol="false" tIns="50800" lIns="50800" bIns="50800" rIns="50800"/>
            <a:lstStyle/>
            <a:p>
              <a:pPr algn="ctr">
                <a:lnSpc>
                  <a:spcPts val="3499"/>
                </a:lnSpc>
              </a:pPr>
            </a:p>
          </p:txBody>
        </p:sp>
      </p:grpSp>
      <p:sp>
        <p:nvSpPr>
          <p:cNvPr name="Freeform 9" id="9"/>
          <p:cNvSpPr/>
          <p:nvPr/>
        </p:nvSpPr>
        <p:spPr>
          <a:xfrm flipH="true" flipV="true" rot="0">
            <a:off x="9144000" y="0"/>
            <a:ext cx="9144000" cy="2354580"/>
          </a:xfrm>
          <a:custGeom>
            <a:avLst/>
            <a:gdLst/>
            <a:ahLst/>
            <a:cxnLst/>
            <a:rect r="r" b="b" t="t" l="l"/>
            <a:pathLst>
              <a:path h="2354580" w="9144000">
                <a:moveTo>
                  <a:pt x="9144000" y="2354580"/>
                </a:moveTo>
                <a:lnTo>
                  <a:pt x="0" y="2354580"/>
                </a:lnTo>
                <a:lnTo>
                  <a:pt x="0" y="0"/>
                </a:lnTo>
                <a:lnTo>
                  <a:pt x="9144000" y="0"/>
                </a:lnTo>
                <a:lnTo>
                  <a:pt x="9144000" y="235458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5374951" y="2888097"/>
            <a:ext cx="7315200" cy="1435608"/>
          </a:xfrm>
          <a:custGeom>
            <a:avLst/>
            <a:gdLst/>
            <a:ahLst/>
            <a:cxnLst/>
            <a:rect r="r" b="b" t="t" l="l"/>
            <a:pathLst>
              <a:path h="1435608" w="7315200">
                <a:moveTo>
                  <a:pt x="0" y="0"/>
                </a:moveTo>
                <a:lnTo>
                  <a:pt x="7315200" y="0"/>
                </a:lnTo>
                <a:lnTo>
                  <a:pt x="7315200" y="1435608"/>
                </a:lnTo>
                <a:lnTo>
                  <a:pt x="0" y="14356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4630400" y="4104072"/>
            <a:ext cx="7315200" cy="1481328"/>
          </a:xfrm>
          <a:custGeom>
            <a:avLst/>
            <a:gdLst/>
            <a:ahLst/>
            <a:cxnLst/>
            <a:rect r="r" b="b" t="t" l="l"/>
            <a:pathLst>
              <a:path h="1481328" w="7315200">
                <a:moveTo>
                  <a:pt x="7315200" y="1481328"/>
                </a:moveTo>
                <a:lnTo>
                  <a:pt x="0" y="1481328"/>
                </a:lnTo>
                <a:lnTo>
                  <a:pt x="0" y="0"/>
                </a:lnTo>
                <a:lnTo>
                  <a:pt x="7315200" y="0"/>
                </a:lnTo>
                <a:lnTo>
                  <a:pt x="7315200" y="1481328"/>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306003" y="3529701"/>
            <a:ext cx="18900006" cy="2197231"/>
          </a:xfrm>
          <a:prstGeom prst="rect">
            <a:avLst/>
          </a:prstGeom>
        </p:spPr>
        <p:txBody>
          <a:bodyPr anchor="t" rtlCol="false" tIns="0" lIns="0" bIns="0" rIns="0">
            <a:spAutoFit/>
          </a:bodyPr>
          <a:lstStyle/>
          <a:p>
            <a:pPr algn="ctr">
              <a:lnSpc>
                <a:spcPts val="17474"/>
              </a:lnSpc>
            </a:pPr>
            <a:r>
              <a:rPr lang="en-US" b="true" sz="13979">
                <a:solidFill>
                  <a:srgbClr val="2E3094"/>
                </a:solidFill>
                <a:latin typeface="Tomorrow Bold"/>
                <a:ea typeface="Tomorrow Bold"/>
                <a:cs typeface="Tomorrow Bold"/>
                <a:sym typeface="Tomorrow Bold"/>
              </a:rPr>
              <a:t>DEV CORE</a:t>
            </a:r>
          </a:p>
        </p:txBody>
      </p:sp>
      <p:sp>
        <p:nvSpPr>
          <p:cNvPr name="TextBox 13" id="13"/>
          <p:cNvSpPr txBox="true"/>
          <p:nvPr/>
        </p:nvSpPr>
        <p:spPr>
          <a:xfrm rot="0">
            <a:off x="11732569" y="8928100"/>
            <a:ext cx="2342125" cy="330200"/>
          </a:xfrm>
          <a:prstGeom prst="rect">
            <a:avLst/>
          </a:prstGeom>
        </p:spPr>
        <p:txBody>
          <a:bodyPr anchor="t" rtlCol="false" tIns="0" lIns="0" bIns="0" rIns="0">
            <a:spAutoFit/>
          </a:bodyPr>
          <a:lstStyle/>
          <a:p>
            <a:pPr algn="l">
              <a:lnSpc>
                <a:spcPts val="2499"/>
              </a:lnSpc>
            </a:pPr>
            <a:r>
              <a:rPr lang="en-US" sz="2499">
                <a:solidFill>
                  <a:srgbClr val="FFFFFF"/>
                </a:solidFill>
                <a:latin typeface="Roboto"/>
                <a:ea typeface="Roboto"/>
                <a:cs typeface="Roboto"/>
                <a:sym typeface="Roboto"/>
              </a:rPr>
              <a:t>Presented by :</a:t>
            </a:r>
          </a:p>
        </p:txBody>
      </p:sp>
      <p:sp>
        <p:nvSpPr>
          <p:cNvPr name="TextBox 14" id="14"/>
          <p:cNvSpPr txBox="true"/>
          <p:nvPr/>
        </p:nvSpPr>
        <p:spPr>
          <a:xfrm rot="0">
            <a:off x="5691932" y="5650733"/>
            <a:ext cx="6904137" cy="589915"/>
          </a:xfrm>
          <a:prstGeom prst="rect">
            <a:avLst/>
          </a:prstGeom>
        </p:spPr>
        <p:txBody>
          <a:bodyPr anchor="t" rtlCol="false" tIns="0" lIns="0" bIns="0" rIns="0">
            <a:spAutoFit/>
          </a:bodyPr>
          <a:lstStyle/>
          <a:p>
            <a:pPr algn="ctr">
              <a:lnSpc>
                <a:spcPts val="4759"/>
              </a:lnSpc>
            </a:pPr>
            <a:r>
              <a:rPr lang="en-US" b="true" sz="3399">
                <a:solidFill>
                  <a:srgbClr val="8C52FF"/>
                </a:solidFill>
                <a:latin typeface="Tomorrow Bold"/>
                <a:ea typeface="Tomorrow Bold"/>
                <a:cs typeface="Tomorrow Bold"/>
                <a:sym typeface="Tomorrow Bold"/>
              </a:rPr>
              <a:t>Desenvolvimento de Software </a:t>
            </a:r>
          </a:p>
        </p:txBody>
      </p:sp>
      <p:sp>
        <p:nvSpPr>
          <p:cNvPr name="Freeform 15" id="15"/>
          <p:cNvSpPr/>
          <p:nvPr/>
        </p:nvSpPr>
        <p:spPr>
          <a:xfrm flipH="false" flipV="false" rot="0">
            <a:off x="0" y="0"/>
            <a:ext cx="2964782" cy="3023537"/>
          </a:xfrm>
          <a:custGeom>
            <a:avLst/>
            <a:gdLst/>
            <a:ahLst/>
            <a:cxnLst/>
            <a:rect r="r" b="b" t="t" l="l"/>
            <a:pathLst>
              <a:path h="3023537" w="2964782">
                <a:moveTo>
                  <a:pt x="0" y="0"/>
                </a:moveTo>
                <a:lnTo>
                  <a:pt x="2964782" y="0"/>
                </a:lnTo>
                <a:lnTo>
                  <a:pt x="2964782" y="3023537"/>
                </a:lnTo>
                <a:lnTo>
                  <a:pt x="0" y="3023537"/>
                </a:lnTo>
                <a:lnTo>
                  <a:pt x="0" y="0"/>
                </a:lnTo>
                <a:close/>
              </a:path>
            </a:pathLst>
          </a:custGeom>
          <a:blipFill>
            <a:blip r:embed="rId10"/>
            <a:stretch>
              <a:fillRect l="0" t="0" r="-1981" b="0"/>
            </a:stretch>
          </a:blipFill>
        </p:spPr>
      </p:sp>
      <p:sp>
        <p:nvSpPr>
          <p:cNvPr name="Freeform 16" id="16"/>
          <p:cNvSpPr/>
          <p:nvPr/>
        </p:nvSpPr>
        <p:spPr>
          <a:xfrm flipH="false" flipV="false" rot="0">
            <a:off x="16506250" y="8280856"/>
            <a:ext cx="1506100" cy="1506100"/>
          </a:xfrm>
          <a:custGeom>
            <a:avLst/>
            <a:gdLst/>
            <a:ahLst/>
            <a:cxnLst/>
            <a:rect r="r" b="b" t="t" l="l"/>
            <a:pathLst>
              <a:path h="1506100" w="1506100">
                <a:moveTo>
                  <a:pt x="0" y="0"/>
                </a:moveTo>
                <a:lnTo>
                  <a:pt x="1506100" y="0"/>
                </a:lnTo>
                <a:lnTo>
                  <a:pt x="1506100" y="1506100"/>
                </a:lnTo>
                <a:lnTo>
                  <a:pt x="0" y="1506100"/>
                </a:lnTo>
                <a:lnTo>
                  <a:pt x="0" y="0"/>
                </a:lnTo>
                <a:close/>
              </a:path>
            </a:pathLst>
          </a:custGeom>
          <a:blipFill>
            <a:blip r:embed="rId11"/>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2610133" y="2374900"/>
            <a:ext cx="3100621" cy="3083826"/>
          </a:xfrm>
          <a:custGeom>
            <a:avLst/>
            <a:gdLst/>
            <a:ahLst/>
            <a:cxnLst/>
            <a:rect r="r" b="b" t="t" l="l"/>
            <a:pathLst>
              <a:path h="3083826" w="3100621">
                <a:moveTo>
                  <a:pt x="3100620" y="3083826"/>
                </a:moveTo>
                <a:lnTo>
                  <a:pt x="0" y="3083826"/>
                </a:lnTo>
                <a:lnTo>
                  <a:pt x="0" y="0"/>
                </a:lnTo>
                <a:lnTo>
                  <a:pt x="3100620" y="0"/>
                </a:lnTo>
                <a:lnTo>
                  <a:pt x="3100620" y="30838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842629" y="2588146"/>
            <a:ext cx="2656355" cy="2654119"/>
            <a:chOff x="0" y="0"/>
            <a:chExt cx="612444" cy="611929"/>
          </a:xfrm>
        </p:grpSpPr>
        <p:sp>
          <p:nvSpPr>
            <p:cNvPr name="Freeform 4" id="4"/>
            <p:cNvSpPr/>
            <p:nvPr/>
          </p:nvSpPr>
          <p:spPr>
            <a:xfrm flipH="false" flipV="false" rot="0">
              <a:off x="0" y="0"/>
              <a:ext cx="612444" cy="611929"/>
            </a:xfrm>
            <a:custGeom>
              <a:avLst/>
              <a:gdLst/>
              <a:ahLst/>
              <a:cxnLst/>
              <a:rect r="r" b="b" t="t" l="l"/>
              <a:pathLst>
                <a:path h="611929" w="612444">
                  <a:moveTo>
                    <a:pt x="0" y="0"/>
                  </a:moveTo>
                  <a:lnTo>
                    <a:pt x="612444" y="0"/>
                  </a:lnTo>
                  <a:lnTo>
                    <a:pt x="612444" y="611929"/>
                  </a:lnTo>
                  <a:lnTo>
                    <a:pt x="0" y="611929"/>
                  </a:lnTo>
                  <a:close/>
                </a:path>
              </a:pathLst>
            </a:custGeom>
            <a:blipFill>
              <a:blip r:embed="rId4"/>
              <a:stretch>
                <a:fillRect l="0" t="-19780" r="-13267" b="-81752"/>
              </a:stretch>
            </a:blipFill>
          </p:spPr>
        </p:sp>
      </p:grpSp>
      <p:grpSp>
        <p:nvGrpSpPr>
          <p:cNvPr name="Group 5" id="5"/>
          <p:cNvGrpSpPr/>
          <p:nvPr/>
        </p:nvGrpSpPr>
        <p:grpSpPr>
          <a:xfrm rot="-10800000">
            <a:off x="8591777" y="-237572"/>
            <a:ext cx="2160059" cy="1207052"/>
            <a:chOff x="0" y="0"/>
            <a:chExt cx="1086388" cy="607079"/>
          </a:xfrm>
        </p:grpSpPr>
        <p:sp>
          <p:nvSpPr>
            <p:cNvPr name="Freeform 6" id="6"/>
            <p:cNvSpPr/>
            <p:nvPr/>
          </p:nvSpPr>
          <p:spPr>
            <a:xfrm flipH="false" flipV="false" rot="0">
              <a:off x="0" y="0"/>
              <a:ext cx="1086388" cy="607079"/>
            </a:xfrm>
            <a:custGeom>
              <a:avLst/>
              <a:gdLst/>
              <a:ahLst/>
              <a:cxnLst/>
              <a:rect r="r" b="b" t="t" l="l"/>
              <a:pathLst>
                <a:path h="607079" w="1086388">
                  <a:moveTo>
                    <a:pt x="543194" y="0"/>
                  </a:moveTo>
                  <a:lnTo>
                    <a:pt x="1086388" y="607079"/>
                  </a:lnTo>
                  <a:lnTo>
                    <a:pt x="0" y="607079"/>
                  </a:lnTo>
                  <a:lnTo>
                    <a:pt x="543194" y="0"/>
                  </a:lnTo>
                  <a:close/>
                </a:path>
              </a:pathLst>
            </a:custGeom>
            <a:solidFill>
              <a:srgbClr val="2E3094"/>
            </a:solidFill>
          </p:spPr>
        </p:sp>
        <p:sp>
          <p:nvSpPr>
            <p:cNvPr name="TextBox 7" id="7"/>
            <p:cNvSpPr txBox="true"/>
            <p:nvPr/>
          </p:nvSpPr>
          <p:spPr>
            <a:xfrm>
              <a:off x="169748" y="215183"/>
              <a:ext cx="746892" cy="348533"/>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true" rot="0">
            <a:off x="9671807" y="-605991"/>
            <a:ext cx="9256618" cy="1943890"/>
          </a:xfrm>
          <a:custGeom>
            <a:avLst/>
            <a:gdLst/>
            <a:ahLst/>
            <a:cxnLst/>
            <a:rect r="r" b="b" t="t" l="l"/>
            <a:pathLst>
              <a:path h="1943890" w="9256618">
                <a:moveTo>
                  <a:pt x="9256618" y="1943889"/>
                </a:moveTo>
                <a:lnTo>
                  <a:pt x="0" y="1943889"/>
                </a:lnTo>
                <a:lnTo>
                  <a:pt x="0" y="0"/>
                </a:lnTo>
                <a:lnTo>
                  <a:pt x="9256618" y="0"/>
                </a:lnTo>
                <a:lnTo>
                  <a:pt x="9256618" y="1943889"/>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5400000">
            <a:off x="-3750961" y="5217201"/>
            <a:ext cx="8711867" cy="1829492"/>
          </a:xfrm>
          <a:custGeom>
            <a:avLst/>
            <a:gdLst/>
            <a:ahLst/>
            <a:cxnLst/>
            <a:rect r="r" b="b" t="t" l="l"/>
            <a:pathLst>
              <a:path h="1829492" w="8711867">
                <a:moveTo>
                  <a:pt x="0" y="0"/>
                </a:moveTo>
                <a:lnTo>
                  <a:pt x="8711866" y="0"/>
                </a:lnTo>
                <a:lnTo>
                  <a:pt x="8711866" y="1829492"/>
                </a:lnTo>
                <a:lnTo>
                  <a:pt x="0" y="18294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true" flipV="true" rot="0">
            <a:off x="7804921" y="2374900"/>
            <a:ext cx="3100621" cy="3083826"/>
          </a:xfrm>
          <a:custGeom>
            <a:avLst/>
            <a:gdLst/>
            <a:ahLst/>
            <a:cxnLst/>
            <a:rect r="r" b="b" t="t" l="l"/>
            <a:pathLst>
              <a:path h="3083826" w="3100621">
                <a:moveTo>
                  <a:pt x="3100621" y="3083826"/>
                </a:moveTo>
                <a:lnTo>
                  <a:pt x="0" y="3083826"/>
                </a:lnTo>
                <a:lnTo>
                  <a:pt x="0" y="0"/>
                </a:lnTo>
                <a:lnTo>
                  <a:pt x="3100621" y="0"/>
                </a:lnTo>
                <a:lnTo>
                  <a:pt x="3100621" y="30838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8037418" y="2588146"/>
            <a:ext cx="2656355" cy="2654119"/>
            <a:chOff x="0" y="0"/>
            <a:chExt cx="612444" cy="611929"/>
          </a:xfrm>
        </p:grpSpPr>
        <p:sp>
          <p:nvSpPr>
            <p:cNvPr name="Freeform 12" id="12"/>
            <p:cNvSpPr/>
            <p:nvPr/>
          </p:nvSpPr>
          <p:spPr>
            <a:xfrm flipH="false" flipV="false" rot="0">
              <a:off x="0" y="0"/>
              <a:ext cx="612444" cy="611929"/>
            </a:xfrm>
            <a:custGeom>
              <a:avLst/>
              <a:gdLst/>
              <a:ahLst/>
              <a:cxnLst/>
              <a:rect r="r" b="b" t="t" l="l"/>
              <a:pathLst>
                <a:path h="611929" w="612444">
                  <a:moveTo>
                    <a:pt x="0" y="0"/>
                  </a:moveTo>
                  <a:lnTo>
                    <a:pt x="612444" y="0"/>
                  </a:lnTo>
                  <a:lnTo>
                    <a:pt x="612444" y="611929"/>
                  </a:lnTo>
                  <a:lnTo>
                    <a:pt x="0" y="611929"/>
                  </a:lnTo>
                  <a:close/>
                </a:path>
              </a:pathLst>
            </a:custGeom>
            <a:blipFill>
              <a:blip r:embed="rId9"/>
              <a:stretch>
                <a:fillRect l="0" t="-42" r="0" b="-42"/>
              </a:stretch>
            </a:blipFill>
          </p:spPr>
        </p:sp>
      </p:grpSp>
      <p:sp>
        <p:nvSpPr>
          <p:cNvPr name="Freeform 13" id="13"/>
          <p:cNvSpPr/>
          <p:nvPr/>
        </p:nvSpPr>
        <p:spPr>
          <a:xfrm flipH="true" flipV="true" rot="0">
            <a:off x="13161288" y="2374900"/>
            <a:ext cx="3100621" cy="3083826"/>
          </a:xfrm>
          <a:custGeom>
            <a:avLst/>
            <a:gdLst/>
            <a:ahLst/>
            <a:cxnLst/>
            <a:rect r="r" b="b" t="t" l="l"/>
            <a:pathLst>
              <a:path h="3083826" w="3100621">
                <a:moveTo>
                  <a:pt x="3100621" y="3083826"/>
                </a:moveTo>
                <a:lnTo>
                  <a:pt x="0" y="3083826"/>
                </a:lnTo>
                <a:lnTo>
                  <a:pt x="0" y="0"/>
                </a:lnTo>
                <a:lnTo>
                  <a:pt x="3100621" y="0"/>
                </a:lnTo>
                <a:lnTo>
                  <a:pt x="3100621" y="30838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13393785" y="2588146"/>
            <a:ext cx="2656355" cy="2654119"/>
            <a:chOff x="0" y="0"/>
            <a:chExt cx="612444" cy="611929"/>
          </a:xfrm>
        </p:grpSpPr>
        <p:sp>
          <p:nvSpPr>
            <p:cNvPr name="Freeform 15" id="15"/>
            <p:cNvSpPr/>
            <p:nvPr/>
          </p:nvSpPr>
          <p:spPr>
            <a:xfrm flipH="false" flipV="false" rot="0">
              <a:off x="0" y="0"/>
              <a:ext cx="612444" cy="611929"/>
            </a:xfrm>
            <a:custGeom>
              <a:avLst/>
              <a:gdLst/>
              <a:ahLst/>
              <a:cxnLst/>
              <a:rect r="r" b="b" t="t" l="l"/>
              <a:pathLst>
                <a:path h="611929" w="612444">
                  <a:moveTo>
                    <a:pt x="0" y="0"/>
                  </a:moveTo>
                  <a:lnTo>
                    <a:pt x="612444" y="0"/>
                  </a:lnTo>
                  <a:lnTo>
                    <a:pt x="612444" y="611929"/>
                  </a:lnTo>
                  <a:lnTo>
                    <a:pt x="0" y="611929"/>
                  </a:lnTo>
                  <a:close/>
                </a:path>
              </a:pathLst>
            </a:custGeom>
            <a:blipFill>
              <a:blip r:embed="rId10"/>
              <a:stretch>
                <a:fillRect l="0" t="-37653" r="0" b="-37653"/>
              </a:stretch>
            </a:blipFill>
          </p:spPr>
        </p:sp>
      </p:grpSp>
      <p:sp>
        <p:nvSpPr>
          <p:cNvPr name="Freeform 16" id="16"/>
          <p:cNvSpPr/>
          <p:nvPr/>
        </p:nvSpPr>
        <p:spPr>
          <a:xfrm flipH="true" flipV="true" rot="0">
            <a:off x="10905542" y="6284347"/>
            <a:ext cx="3100621" cy="3083826"/>
          </a:xfrm>
          <a:custGeom>
            <a:avLst/>
            <a:gdLst/>
            <a:ahLst/>
            <a:cxnLst/>
            <a:rect r="r" b="b" t="t" l="l"/>
            <a:pathLst>
              <a:path h="3083826" w="3100621">
                <a:moveTo>
                  <a:pt x="3100620" y="3083826"/>
                </a:moveTo>
                <a:lnTo>
                  <a:pt x="0" y="3083826"/>
                </a:lnTo>
                <a:lnTo>
                  <a:pt x="0" y="0"/>
                </a:lnTo>
                <a:lnTo>
                  <a:pt x="3100620" y="0"/>
                </a:lnTo>
                <a:lnTo>
                  <a:pt x="3100620" y="30838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11138038" y="6497593"/>
            <a:ext cx="2656355" cy="2654119"/>
            <a:chOff x="0" y="0"/>
            <a:chExt cx="612444" cy="611929"/>
          </a:xfrm>
        </p:grpSpPr>
        <p:sp>
          <p:nvSpPr>
            <p:cNvPr name="Freeform 18" id="18"/>
            <p:cNvSpPr/>
            <p:nvPr/>
          </p:nvSpPr>
          <p:spPr>
            <a:xfrm flipH="false" flipV="false" rot="0">
              <a:off x="0" y="0"/>
              <a:ext cx="612444" cy="611929"/>
            </a:xfrm>
            <a:custGeom>
              <a:avLst/>
              <a:gdLst/>
              <a:ahLst/>
              <a:cxnLst/>
              <a:rect r="r" b="b" t="t" l="l"/>
              <a:pathLst>
                <a:path h="611929" w="612444">
                  <a:moveTo>
                    <a:pt x="0" y="0"/>
                  </a:moveTo>
                  <a:lnTo>
                    <a:pt x="612444" y="0"/>
                  </a:lnTo>
                  <a:lnTo>
                    <a:pt x="612444" y="611929"/>
                  </a:lnTo>
                  <a:lnTo>
                    <a:pt x="0" y="611929"/>
                  </a:lnTo>
                  <a:close/>
                </a:path>
              </a:pathLst>
            </a:custGeom>
            <a:blipFill>
              <a:blip r:embed="rId11"/>
              <a:stretch>
                <a:fillRect l="0" t="-42" r="0" b="-42"/>
              </a:stretch>
            </a:blipFill>
          </p:spPr>
        </p:sp>
      </p:grpSp>
      <p:sp>
        <p:nvSpPr>
          <p:cNvPr name="Freeform 19" id="19"/>
          <p:cNvSpPr/>
          <p:nvPr/>
        </p:nvSpPr>
        <p:spPr>
          <a:xfrm flipH="true" flipV="true" rot="0">
            <a:off x="4936797" y="6284347"/>
            <a:ext cx="3100621" cy="3083826"/>
          </a:xfrm>
          <a:custGeom>
            <a:avLst/>
            <a:gdLst/>
            <a:ahLst/>
            <a:cxnLst/>
            <a:rect r="r" b="b" t="t" l="l"/>
            <a:pathLst>
              <a:path h="3083826" w="3100621">
                <a:moveTo>
                  <a:pt x="3100621" y="3083826"/>
                </a:moveTo>
                <a:lnTo>
                  <a:pt x="0" y="3083826"/>
                </a:lnTo>
                <a:lnTo>
                  <a:pt x="0" y="0"/>
                </a:lnTo>
                <a:lnTo>
                  <a:pt x="3100621" y="0"/>
                </a:lnTo>
                <a:lnTo>
                  <a:pt x="3100621" y="308382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0" id="20"/>
          <p:cNvGrpSpPr/>
          <p:nvPr/>
        </p:nvGrpSpPr>
        <p:grpSpPr>
          <a:xfrm rot="0">
            <a:off x="5169294" y="6497593"/>
            <a:ext cx="2656355" cy="2654119"/>
            <a:chOff x="0" y="0"/>
            <a:chExt cx="612444" cy="611929"/>
          </a:xfrm>
        </p:grpSpPr>
        <p:sp>
          <p:nvSpPr>
            <p:cNvPr name="Freeform 21" id="21"/>
            <p:cNvSpPr/>
            <p:nvPr/>
          </p:nvSpPr>
          <p:spPr>
            <a:xfrm flipH="false" flipV="false" rot="0">
              <a:off x="0" y="0"/>
              <a:ext cx="612444" cy="611929"/>
            </a:xfrm>
            <a:custGeom>
              <a:avLst/>
              <a:gdLst/>
              <a:ahLst/>
              <a:cxnLst/>
              <a:rect r="r" b="b" t="t" l="l"/>
              <a:pathLst>
                <a:path h="611929" w="612444">
                  <a:moveTo>
                    <a:pt x="0" y="0"/>
                  </a:moveTo>
                  <a:lnTo>
                    <a:pt x="612444" y="0"/>
                  </a:lnTo>
                  <a:lnTo>
                    <a:pt x="612444" y="611929"/>
                  </a:lnTo>
                  <a:lnTo>
                    <a:pt x="0" y="611929"/>
                  </a:lnTo>
                  <a:close/>
                </a:path>
              </a:pathLst>
            </a:custGeom>
            <a:blipFill>
              <a:blip r:embed="rId12"/>
              <a:stretch>
                <a:fillRect l="0" t="-9154" r="0" b="-24453"/>
              </a:stretch>
            </a:blipFill>
          </p:spPr>
        </p:sp>
      </p:grpSp>
      <p:sp>
        <p:nvSpPr>
          <p:cNvPr name="Freeform 22" id="22"/>
          <p:cNvSpPr/>
          <p:nvPr/>
        </p:nvSpPr>
        <p:spPr>
          <a:xfrm flipH="false" flipV="false" rot="0">
            <a:off x="93719" y="218966"/>
            <a:ext cx="1425999" cy="1454260"/>
          </a:xfrm>
          <a:custGeom>
            <a:avLst/>
            <a:gdLst/>
            <a:ahLst/>
            <a:cxnLst/>
            <a:rect r="r" b="b" t="t" l="l"/>
            <a:pathLst>
              <a:path h="1454260" w="1425999">
                <a:moveTo>
                  <a:pt x="0" y="0"/>
                </a:moveTo>
                <a:lnTo>
                  <a:pt x="1425999" y="0"/>
                </a:lnTo>
                <a:lnTo>
                  <a:pt x="1425999" y="1454259"/>
                </a:lnTo>
                <a:lnTo>
                  <a:pt x="0" y="1454259"/>
                </a:lnTo>
                <a:lnTo>
                  <a:pt x="0" y="0"/>
                </a:lnTo>
                <a:close/>
              </a:path>
            </a:pathLst>
          </a:custGeom>
          <a:blipFill>
            <a:blip r:embed="rId13"/>
            <a:stretch>
              <a:fillRect l="0" t="0" r="-1981" b="0"/>
            </a:stretch>
          </a:blipFill>
        </p:spPr>
      </p:sp>
      <p:sp>
        <p:nvSpPr>
          <p:cNvPr name="Freeform 23" id="23"/>
          <p:cNvSpPr/>
          <p:nvPr/>
        </p:nvSpPr>
        <p:spPr>
          <a:xfrm flipH="false" flipV="false" rot="0">
            <a:off x="16506250" y="8280856"/>
            <a:ext cx="1506100" cy="1506100"/>
          </a:xfrm>
          <a:custGeom>
            <a:avLst/>
            <a:gdLst/>
            <a:ahLst/>
            <a:cxnLst/>
            <a:rect r="r" b="b" t="t" l="l"/>
            <a:pathLst>
              <a:path h="1506100" w="1506100">
                <a:moveTo>
                  <a:pt x="0" y="0"/>
                </a:moveTo>
                <a:lnTo>
                  <a:pt x="1506100" y="0"/>
                </a:lnTo>
                <a:lnTo>
                  <a:pt x="1506100" y="1506100"/>
                </a:lnTo>
                <a:lnTo>
                  <a:pt x="0" y="1506100"/>
                </a:lnTo>
                <a:lnTo>
                  <a:pt x="0" y="0"/>
                </a:lnTo>
                <a:close/>
              </a:path>
            </a:pathLst>
          </a:custGeom>
          <a:blipFill>
            <a:blip r:embed="rId14"/>
            <a:stretch>
              <a:fillRect l="0" t="0" r="0" b="0"/>
            </a:stretch>
          </a:blipFill>
        </p:spPr>
      </p:sp>
      <p:sp>
        <p:nvSpPr>
          <p:cNvPr name="TextBox 24" id="24"/>
          <p:cNvSpPr txBox="true"/>
          <p:nvPr/>
        </p:nvSpPr>
        <p:spPr>
          <a:xfrm rot="0">
            <a:off x="1583171" y="1148838"/>
            <a:ext cx="7560829" cy="1020200"/>
          </a:xfrm>
          <a:prstGeom prst="rect">
            <a:avLst/>
          </a:prstGeom>
        </p:spPr>
        <p:txBody>
          <a:bodyPr anchor="t" rtlCol="false" tIns="0" lIns="0" bIns="0" rIns="0">
            <a:spAutoFit/>
          </a:bodyPr>
          <a:lstStyle/>
          <a:p>
            <a:pPr algn="l">
              <a:lnSpc>
                <a:spcPts val="8173"/>
              </a:lnSpc>
            </a:pPr>
            <a:r>
              <a:rPr lang="en-US" sz="6538" b="true">
                <a:solidFill>
                  <a:srgbClr val="2E3094"/>
                </a:solidFill>
                <a:latin typeface="Tomorrow Bold"/>
                <a:ea typeface="Tomorrow Bold"/>
                <a:cs typeface="Tomorrow Bold"/>
                <a:sym typeface="Tomorrow Bold"/>
              </a:rPr>
              <a:t>EQUIPE:</a:t>
            </a:r>
          </a:p>
        </p:txBody>
      </p:sp>
      <p:sp>
        <p:nvSpPr>
          <p:cNvPr name="TextBox 25" id="25"/>
          <p:cNvSpPr txBox="true"/>
          <p:nvPr/>
        </p:nvSpPr>
        <p:spPr>
          <a:xfrm rot="0">
            <a:off x="2832265" y="5538479"/>
            <a:ext cx="2656355" cy="589915"/>
          </a:xfrm>
          <a:prstGeom prst="rect">
            <a:avLst/>
          </a:prstGeom>
        </p:spPr>
        <p:txBody>
          <a:bodyPr anchor="t" rtlCol="false" tIns="0" lIns="0" bIns="0" rIns="0">
            <a:spAutoFit/>
          </a:bodyPr>
          <a:lstStyle/>
          <a:p>
            <a:pPr algn="ctr">
              <a:lnSpc>
                <a:spcPts val="4759"/>
              </a:lnSpc>
            </a:pPr>
            <a:r>
              <a:rPr lang="en-US" sz="3399" b="true">
                <a:solidFill>
                  <a:srgbClr val="2E3094"/>
                </a:solidFill>
                <a:latin typeface="Tomorrow Bold"/>
                <a:ea typeface="Tomorrow Bold"/>
                <a:cs typeface="Tomorrow Bold"/>
                <a:sym typeface="Tomorrow Bold"/>
              </a:rPr>
              <a:t>José Satiro</a:t>
            </a:r>
          </a:p>
        </p:txBody>
      </p:sp>
      <p:sp>
        <p:nvSpPr>
          <p:cNvPr name="TextBox 26" id="26"/>
          <p:cNvSpPr txBox="true"/>
          <p:nvPr/>
        </p:nvSpPr>
        <p:spPr>
          <a:xfrm rot="0">
            <a:off x="7343713" y="5542032"/>
            <a:ext cx="4043765" cy="589915"/>
          </a:xfrm>
          <a:prstGeom prst="rect">
            <a:avLst/>
          </a:prstGeom>
        </p:spPr>
        <p:txBody>
          <a:bodyPr anchor="t" rtlCol="false" tIns="0" lIns="0" bIns="0" rIns="0">
            <a:spAutoFit/>
          </a:bodyPr>
          <a:lstStyle/>
          <a:p>
            <a:pPr algn="ctr">
              <a:lnSpc>
                <a:spcPts val="4759"/>
              </a:lnSpc>
            </a:pPr>
            <a:r>
              <a:rPr lang="en-US" sz="3399" b="true">
                <a:solidFill>
                  <a:srgbClr val="2E3094"/>
                </a:solidFill>
                <a:latin typeface="Tomorrow Bold"/>
                <a:ea typeface="Tomorrow Bold"/>
                <a:cs typeface="Tomorrow Bold"/>
                <a:sym typeface="Tomorrow Bold"/>
              </a:rPr>
              <a:t>Wagner Colares</a:t>
            </a:r>
          </a:p>
        </p:txBody>
      </p:sp>
      <p:sp>
        <p:nvSpPr>
          <p:cNvPr name="TextBox 27" id="27"/>
          <p:cNvSpPr txBox="true"/>
          <p:nvPr/>
        </p:nvSpPr>
        <p:spPr>
          <a:xfrm rot="0">
            <a:off x="12808154" y="5538479"/>
            <a:ext cx="4043765" cy="589915"/>
          </a:xfrm>
          <a:prstGeom prst="rect">
            <a:avLst/>
          </a:prstGeom>
        </p:spPr>
        <p:txBody>
          <a:bodyPr anchor="t" rtlCol="false" tIns="0" lIns="0" bIns="0" rIns="0">
            <a:spAutoFit/>
          </a:bodyPr>
          <a:lstStyle/>
          <a:p>
            <a:pPr algn="ctr">
              <a:lnSpc>
                <a:spcPts val="4759"/>
              </a:lnSpc>
            </a:pPr>
            <a:r>
              <a:rPr lang="en-US" sz="3399" b="true">
                <a:solidFill>
                  <a:srgbClr val="2E3094"/>
                </a:solidFill>
                <a:latin typeface="Tomorrow Bold"/>
                <a:ea typeface="Tomorrow Bold"/>
                <a:cs typeface="Tomorrow Bold"/>
                <a:sym typeface="Tomorrow Bold"/>
              </a:rPr>
              <a:t>Arthur Herbster</a:t>
            </a:r>
          </a:p>
        </p:txBody>
      </p:sp>
      <p:sp>
        <p:nvSpPr>
          <p:cNvPr name="TextBox 28" id="28"/>
          <p:cNvSpPr txBox="true"/>
          <p:nvPr/>
        </p:nvSpPr>
        <p:spPr>
          <a:xfrm rot="0">
            <a:off x="4695544" y="9453898"/>
            <a:ext cx="3603854" cy="589915"/>
          </a:xfrm>
          <a:prstGeom prst="rect">
            <a:avLst/>
          </a:prstGeom>
        </p:spPr>
        <p:txBody>
          <a:bodyPr anchor="t" rtlCol="false" tIns="0" lIns="0" bIns="0" rIns="0">
            <a:spAutoFit/>
          </a:bodyPr>
          <a:lstStyle/>
          <a:p>
            <a:pPr algn="ctr">
              <a:lnSpc>
                <a:spcPts val="4759"/>
              </a:lnSpc>
            </a:pPr>
            <a:r>
              <a:rPr lang="en-US" sz="3399" b="true">
                <a:solidFill>
                  <a:srgbClr val="2E3094"/>
                </a:solidFill>
                <a:latin typeface="Tomorrow Bold"/>
                <a:ea typeface="Tomorrow Bold"/>
                <a:cs typeface="Tomorrow Bold"/>
                <a:sym typeface="Tomorrow Bold"/>
              </a:rPr>
              <a:t>Alisson Sousa</a:t>
            </a:r>
          </a:p>
        </p:txBody>
      </p:sp>
      <p:sp>
        <p:nvSpPr>
          <p:cNvPr name="TextBox 29" id="29"/>
          <p:cNvSpPr txBox="true"/>
          <p:nvPr/>
        </p:nvSpPr>
        <p:spPr>
          <a:xfrm rot="0">
            <a:off x="10342816" y="9453898"/>
            <a:ext cx="4246800" cy="589915"/>
          </a:xfrm>
          <a:prstGeom prst="rect">
            <a:avLst/>
          </a:prstGeom>
        </p:spPr>
        <p:txBody>
          <a:bodyPr anchor="t" rtlCol="false" tIns="0" lIns="0" bIns="0" rIns="0">
            <a:spAutoFit/>
          </a:bodyPr>
          <a:lstStyle/>
          <a:p>
            <a:pPr algn="ctr">
              <a:lnSpc>
                <a:spcPts val="4759"/>
              </a:lnSpc>
            </a:pPr>
            <a:r>
              <a:rPr lang="en-US" sz="3399" b="true">
                <a:solidFill>
                  <a:srgbClr val="2E3094"/>
                </a:solidFill>
                <a:latin typeface="Tomorrow Bold"/>
                <a:ea typeface="Tomorrow Bold"/>
                <a:cs typeface="Tomorrow Bold"/>
                <a:sym typeface="Tomorrow Bold"/>
              </a:rPr>
              <a:t>Willyam Andrade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69405" y="9127877"/>
            <a:ext cx="1770609" cy="1159123"/>
            <a:chOff x="0" y="0"/>
            <a:chExt cx="1086388" cy="711200"/>
          </a:xfrm>
        </p:grpSpPr>
        <p:sp>
          <p:nvSpPr>
            <p:cNvPr name="Freeform 3" id="3"/>
            <p:cNvSpPr/>
            <p:nvPr/>
          </p:nvSpPr>
          <p:spPr>
            <a:xfrm flipH="false" flipV="false" rot="0">
              <a:off x="0" y="0"/>
              <a:ext cx="1086388" cy="711200"/>
            </a:xfrm>
            <a:custGeom>
              <a:avLst/>
              <a:gdLst/>
              <a:ahLst/>
              <a:cxnLst/>
              <a:rect r="r" b="b" t="t" l="l"/>
              <a:pathLst>
                <a:path h="711200" w="1086388">
                  <a:moveTo>
                    <a:pt x="543194" y="0"/>
                  </a:moveTo>
                  <a:lnTo>
                    <a:pt x="1086388" y="711200"/>
                  </a:lnTo>
                  <a:lnTo>
                    <a:pt x="0" y="711200"/>
                  </a:lnTo>
                  <a:lnTo>
                    <a:pt x="543194" y="0"/>
                  </a:lnTo>
                  <a:close/>
                </a:path>
              </a:pathLst>
            </a:custGeom>
            <a:solidFill>
              <a:srgbClr val="2E3094"/>
            </a:solidFill>
          </p:spPr>
        </p:sp>
        <p:sp>
          <p:nvSpPr>
            <p:cNvPr name="TextBox 4" id="4"/>
            <p:cNvSpPr txBox="true"/>
            <p:nvPr/>
          </p:nvSpPr>
          <p:spPr>
            <a:xfrm>
              <a:off x="169748" y="263525"/>
              <a:ext cx="746892" cy="396875"/>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10800000">
            <a:off x="8063970" y="-84680"/>
            <a:ext cx="2160059" cy="1414075"/>
            <a:chOff x="0" y="0"/>
            <a:chExt cx="1086388" cy="711200"/>
          </a:xfrm>
        </p:grpSpPr>
        <p:sp>
          <p:nvSpPr>
            <p:cNvPr name="Freeform 6" id="6"/>
            <p:cNvSpPr/>
            <p:nvPr/>
          </p:nvSpPr>
          <p:spPr>
            <a:xfrm flipH="false" flipV="false" rot="0">
              <a:off x="0" y="0"/>
              <a:ext cx="1086388" cy="711200"/>
            </a:xfrm>
            <a:custGeom>
              <a:avLst/>
              <a:gdLst/>
              <a:ahLst/>
              <a:cxnLst/>
              <a:rect r="r" b="b" t="t" l="l"/>
              <a:pathLst>
                <a:path h="711200" w="1086388">
                  <a:moveTo>
                    <a:pt x="543194" y="0"/>
                  </a:moveTo>
                  <a:lnTo>
                    <a:pt x="1086388" y="711200"/>
                  </a:lnTo>
                  <a:lnTo>
                    <a:pt x="0" y="711200"/>
                  </a:lnTo>
                  <a:lnTo>
                    <a:pt x="543194" y="0"/>
                  </a:lnTo>
                  <a:close/>
                </a:path>
              </a:pathLst>
            </a:custGeom>
            <a:solidFill>
              <a:srgbClr val="2E3094"/>
            </a:solidFill>
          </p:spPr>
        </p:sp>
        <p:sp>
          <p:nvSpPr>
            <p:cNvPr name="TextBox 7" id="7"/>
            <p:cNvSpPr txBox="true"/>
            <p:nvPr/>
          </p:nvSpPr>
          <p:spPr>
            <a:xfrm>
              <a:off x="169748" y="263525"/>
              <a:ext cx="746892" cy="396875"/>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true" rot="0">
            <a:off x="9144000" y="0"/>
            <a:ext cx="9144000" cy="2354580"/>
          </a:xfrm>
          <a:custGeom>
            <a:avLst/>
            <a:gdLst/>
            <a:ahLst/>
            <a:cxnLst/>
            <a:rect r="r" b="b" t="t" l="l"/>
            <a:pathLst>
              <a:path h="2354580" w="9144000">
                <a:moveTo>
                  <a:pt x="9144000" y="2354580"/>
                </a:moveTo>
                <a:lnTo>
                  <a:pt x="0" y="2354580"/>
                </a:lnTo>
                <a:lnTo>
                  <a:pt x="0" y="0"/>
                </a:lnTo>
                <a:lnTo>
                  <a:pt x="9144000" y="0"/>
                </a:lnTo>
                <a:lnTo>
                  <a:pt x="9144000" y="235458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55495" y="8851392"/>
            <a:ext cx="9602237" cy="1884439"/>
          </a:xfrm>
          <a:custGeom>
            <a:avLst/>
            <a:gdLst/>
            <a:ahLst/>
            <a:cxnLst/>
            <a:rect r="r" b="b" t="t" l="l"/>
            <a:pathLst>
              <a:path h="1884439" w="9602237">
                <a:moveTo>
                  <a:pt x="0" y="0"/>
                </a:moveTo>
                <a:lnTo>
                  <a:pt x="9602238" y="0"/>
                </a:lnTo>
                <a:lnTo>
                  <a:pt x="9602238" y="1884439"/>
                </a:lnTo>
                <a:lnTo>
                  <a:pt x="0" y="18844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93719" y="218966"/>
            <a:ext cx="1425999" cy="1454260"/>
          </a:xfrm>
          <a:custGeom>
            <a:avLst/>
            <a:gdLst/>
            <a:ahLst/>
            <a:cxnLst/>
            <a:rect r="r" b="b" t="t" l="l"/>
            <a:pathLst>
              <a:path h="1454260" w="1425999">
                <a:moveTo>
                  <a:pt x="0" y="0"/>
                </a:moveTo>
                <a:lnTo>
                  <a:pt x="1425999" y="0"/>
                </a:lnTo>
                <a:lnTo>
                  <a:pt x="1425999" y="1454259"/>
                </a:lnTo>
                <a:lnTo>
                  <a:pt x="0" y="1454259"/>
                </a:lnTo>
                <a:lnTo>
                  <a:pt x="0" y="0"/>
                </a:lnTo>
                <a:close/>
              </a:path>
            </a:pathLst>
          </a:custGeom>
          <a:blipFill>
            <a:blip r:embed="rId6"/>
            <a:stretch>
              <a:fillRect l="0" t="0" r="-1981" b="0"/>
            </a:stretch>
          </a:blipFill>
        </p:spPr>
      </p:sp>
      <p:sp>
        <p:nvSpPr>
          <p:cNvPr name="TextBox 11" id="11"/>
          <p:cNvSpPr txBox="true"/>
          <p:nvPr/>
        </p:nvSpPr>
        <p:spPr>
          <a:xfrm rot="0">
            <a:off x="806718" y="1895630"/>
            <a:ext cx="9800293" cy="1119759"/>
          </a:xfrm>
          <a:prstGeom prst="rect">
            <a:avLst/>
          </a:prstGeom>
        </p:spPr>
        <p:txBody>
          <a:bodyPr anchor="t" rtlCol="false" tIns="0" lIns="0" bIns="0" rIns="0">
            <a:spAutoFit/>
          </a:bodyPr>
          <a:lstStyle/>
          <a:p>
            <a:pPr algn="ctr">
              <a:lnSpc>
                <a:spcPts val="9156"/>
              </a:lnSpc>
              <a:spcBef>
                <a:spcPct val="0"/>
              </a:spcBef>
            </a:pPr>
            <a:r>
              <a:rPr lang="en-US" b="true" sz="6540">
                <a:solidFill>
                  <a:srgbClr val="2E3094"/>
                </a:solidFill>
                <a:latin typeface="Tomorrow Bold"/>
                <a:ea typeface="Tomorrow Bold"/>
                <a:cs typeface="Tomorrow Bold"/>
                <a:sym typeface="Tomorrow Bold"/>
              </a:rPr>
              <a:t>Projeto (justificativa):</a:t>
            </a:r>
          </a:p>
        </p:txBody>
      </p:sp>
      <p:sp>
        <p:nvSpPr>
          <p:cNvPr name="TextBox 12" id="12"/>
          <p:cNvSpPr txBox="true"/>
          <p:nvPr/>
        </p:nvSpPr>
        <p:spPr>
          <a:xfrm rot="0">
            <a:off x="1034296" y="3161977"/>
            <a:ext cx="8420414" cy="2184076"/>
          </a:xfrm>
          <a:prstGeom prst="rect">
            <a:avLst/>
          </a:prstGeom>
        </p:spPr>
        <p:txBody>
          <a:bodyPr anchor="t" rtlCol="false" tIns="0" lIns="0" bIns="0" rIns="0">
            <a:spAutoFit/>
          </a:bodyPr>
          <a:lstStyle/>
          <a:p>
            <a:pPr algn="l">
              <a:lnSpc>
                <a:spcPts val="3517"/>
              </a:lnSpc>
            </a:pPr>
            <a:r>
              <a:rPr lang="en-US" sz="2512">
                <a:solidFill>
                  <a:srgbClr val="2E3094"/>
                </a:solidFill>
                <a:latin typeface="Open Sans"/>
                <a:ea typeface="Open Sans"/>
                <a:cs typeface="Open Sans"/>
                <a:sym typeface="Open Sans"/>
              </a:rPr>
              <a:t>O LifeManager, criado pela empresa Dev Core com ci</a:t>
            </a:r>
            <a:r>
              <a:rPr lang="en-US" sz="2512">
                <a:solidFill>
                  <a:srgbClr val="2E3094"/>
                </a:solidFill>
                <a:latin typeface="Open Sans"/>
                <a:ea typeface="Open Sans"/>
                <a:cs typeface="Open Sans"/>
                <a:sym typeface="Open Sans"/>
              </a:rPr>
              <a:t>nco desenvolvedores, reúne login, conversor de temperaturas, calculadora e agenda de contatos com MySQL em uma única plataforma prática e segura.</a:t>
            </a:r>
          </a:p>
          <a:p>
            <a:pPr algn="l">
              <a:lnSpc>
                <a:spcPts val="3517"/>
              </a:lnSpc>
            </a:pPr>
          </a:p>
        </p:txBody>
      </p:sp>
      <p:sp>
        <p:nvSpPr>
          <p:cNvPr name="TextBox 13" id="13"/>
          <p:cNvSpPr txBox="true"/>
          <p:nvPr/>
        </p:nvSpPr>
        <p:spPr>
          <a:xfrm rot="0">
            <a:off x="927182" y="5260328"/>
            <a:ext cx="5326731" cy="675017"/>
          </a:xfrm>
          <a:prstGeom prst="rect">
            <a:avLst/>
          </a:prstGeom>
        </p:spPr>
        <p:txBody>
          <a:bodyPr anchor="t" rtlCol="false" tIns="0" lIns="0" bIns="0" rIns="0">
            <a:spAutoFit/>
          </a:bodyPr>
          <a:lstStyle/>
          <a:p>
            <a:pPr algn="ctr">
              <a:lnSpc>
                <a:spcPts val="5417"/>
              </a:lnSpc>
            </a:pPr>
            <a:r>
              <a:rPr lang="en-US" sz="3869" b="true">
                <a:solidFill>
                  <a:srgbClr val="2E3094"/>
                </a:solidFill>
                <a:latin typeface="Tomorrow Bold"/>
                <a:ea typeface="Tomorrow Bold"/>
                <a:cs typeface="Tomorrow Bold"/>
                <a:sym typeface="Tomorrow Bold"/>
              </a:rPr>
              <a:t>Problema resolvido:</a:t>
            </a:r>
          </a:p>
        </p:txBody>
      </p:sp>
      <p:sp>
        <p:nvSpPr>
          <p:cNvPr name="TextBox 14" id="14"/>
          <p:cNvSpPr txBox="true"/>
          <p:nvPr/>
        </p:nvSpPr>
        <p:spPr>
          <a:xfrm rot="0">
            <a:off x="1034296" y="6087745"/>
            <a:ext cx="7653445" cy="1217064"/>
          </a:xfrm>
          <a:prstGeom prst="rect">
            <a:avLst/>
          </a:prstGeom>
        </p:spPr>
        <p:txBody>
          <a:bodyPr anchor="t" rtlCol="false" tIns="0" lIns="0" bIns="0" rIns="0">
            <a:spAutoFit/>
          </a:bodyPr>
          <a:lstStyle/>
          <a:p>
            <a:pPr algn="l">
              <a:lnSpc>
                <a:spcPts val="3267"/>
              </a:lnSpc>
            </a:pPr>
            <a:r>
              <a:rPr lang="en-US" sz="2334">
                <a:solidFill>
                  <a:srgbClr val="2E3094"/>
                </a:solidFill>
                <a:latin typeface="Open Sans"/>
                <a:ea typeface="Open Sans"/>
                <a:cs typeface="Open Sans"/>
                <a:sym typeface="Open Sans"/>
              </a:rPr>
              <a:t>Centraliza ferrame</a:t>
            </a:r>
            <a:r>
              <a:rPr lang="en-US" sz="2334">
                <a:solidFill>
                  <a:srgbClr val="2E3094"/>
                </a:solidFill>
                <a:latin typeface="Open Sans"/>
                <a:ea typeface="Open Sans"/>
                <a:cs typeface="Open Sans"/>
                <a:sym typeface="Open Sans"/>
              </a:rPr>
              <a:t>ntas separadas e garante segurança no acesso e no armazenamento de dados.</a:t>
            </a:r>
          </a:p>
          <a:p>
            <a:pPr algn="l">
              <a:lnSpc>
                <a:spcPts val="3267"/>
              </a:lnSpc>
            </a:pPr>
          </a:p>
        </p:txBody>
      </p:sp>
      <p:sp>
        <p:nvSpPr>
          <p:cNvPr name="TextBox 15" id="15"/>
          <p:cNvSpPr txBox="true"/>
          <p:nvPr/>
        </p:nvSpPr>
        <p:spPr>
          <a:xfrm rot="0">
            <a:off x="10925087" y="5849620"/>
            <a:ext cx="3475734" cy="675017"/>
          </a:xfrm>
          <a:prstGeom prst="rect">
            <a:avLst/>
          </a:prstGeom>
        </p:spPr>
        <p:txBody>
          <a:bodyPr anchor="t" rtlCol="false" tIns="0" lIns="0" bIns="0" rIns="0">
            <a:spAutoFit/>
          </a:bodyPr>
          <a:lstStyle/>
          <a:p>
            <a:pPr algn="ctr">
              <a:lnSpc>
                <a:spcPts val="5417"/>
              </a:lnSpc>
            </a:pPr>
            <a:r>
              <a:rPr lang="en-US" sz="3869" b="true">
                <a:solidFill>
                  <a:srgbClr val="2E3094"/>
                </a:solidFill>
                <a:latin typeface="Tomorrow Bold"/>
                <a:ea typeface="Tomorrow Bold"/>
                <a:cs typeface="Tomorrow Bold"/>
                <a:sym typeface="Tomorrow Bold"/>
              </a:rPr>
              <a:t>Importância:</a:t>
            </a:r>
          </a:p>
        </p:txBody>
      </p:sp>
      <p:sp>
        <p:nvSpPr>
          <p:cNvPr name="TextBox 16" id="16"/>
          <p:cNvSpPr txBox="true"/>
          <p:nvPr/>
        </p:nvSpPr>
        <p:spPr>
          <a:xfrm rot="0">
            <a:off x="10925087" y="6677037"/>
            <a:ext cx="6652289" cy="1989504"/>
          </a:xfrm>
          <a:prstGeom prst="rect">
            <a:avLst/>
          </a:prstGeom>
        </p:spPr>
        <p:txBody>
          <a:bodyPr anchor="t" rtlCol="false" tIns="0" lIns="0" bIns="0" rIns="0">
            <a:spAutoFit/>
          </a:bodyPr>
          <a:lstStyle/>
          <a:p>
            <a:pPr algn="l" marL="496151" indent="-248076" lvl="1">
              <a:lnSpc>
                <a:spcPts val="3217"/>
              </a:lnSpc>
              <a:buFont typeface="Arial"/>
              <a:buChar char="•"/>
            </a:pPr>
            <a:r>
              <a:rPr lang="en-US" sz="2298">
                <a:solidFill>
                  <a:srgbClr val="2E3094"/>
                </a:solidFill>
                <a:latin typeface="Open Sans"/>
                <a:ea typeface="Open Sans"/>
                <a:cs typeface="Open Sans"/>
                <a:sym typeface="Open Sans"/>
              </a:rPr>
              <a:t>Facilita o u</a:t>
            </a:r>
            <a:r>
              <a:rPr lang="en-US" sz="2298">
                <a:solidFill>
                  <a:srgbClr val="2E3094"/>
                </a:solidFill>
                <a:latin typeface="Open Sans"/>
                <a:ea typeface="Open Sans"/>
                <a:cs typeface="Open Sans"/>
                <a:sym typeface="Open Sans"/>
              </a:rPr>
              <a:t>so diário;</a:t>
            </a:r>
          </a:p>
          <a:p>
            <a:pPr algn="l" marL="496151" indent="-248076" lvl="1">
              <a:lnSpc>
                <a:spcPts val="3217"/>
              </a:lnSpc>
              <a:buFont typeface="Arial"/>
              <a:buChar char="•"/>
            </a:pPr>
            <a:r>
              <a:rPr lang="en-US" sz="2298">
                <a:solidFill>
                  <a:srgbClr val="2E3094"/>
                </a:solidFill>
                <a:latin typeface="Open Sans"/>
                <a:ea typeface="Open Sans"/>
                <a:cs typeface="Open Sans"/>
                <a:sym typeface="Open Sans"/>
              </a:rPr>
              <a:t>Oferece segurança;</a:t>
            </a:r>
          </a:p>
          <a:p>
            <a:pPr algn="l" marL="496151" indent="-248076" lvl="1">
              <a:lnSpc>
                <a:spcPts val="3217"/>
              </a:lnSpc>
              <a:buFont typeface="Arial"/>
              <a:buChar char="•"/>
            </a:pPr>
            <a:r>
              <a:rPr lang="en-US" sz="2298">
                <a:solidFill>
                  <a:srgbClr val="2E3094"/>
                </a:solidFill>
                <a:latin typeface="Open Sans"/>
                <a:ea typeface="Open Sans"/>
                <a:cs typeface="Open Sans"/>
                <a:sym typeface="Open Sans"/>
              </a:rPr>
              <a:t>Organiza informações;</a:t>
            </a:r>
          </a:p>
          <a:p>
            <a:pPr algn="l" marL="496151" indent="-248076" lvl="1">
              <a:lnSpc>
                <a:spcPts val="3217"/>
              </a:lnSpc>
              <a:buFont typeface="Arial"/>
              <a:buChar char="•"/>
            </a:pPr>
            <a:r>
              <a:rPr lang="en-US" sz="2298">
                <a:solidFill>
                  <a:srgbClr val="2E3094"/>
                </a:solidFill>
                <a:latin typeface="Open Sans"/>
                <a:ea typeface="Open Sans"/>
                <a:cs typeface="Open Sans"/>
                <a:sym typeface="Open Sans"/>
              </a:rPr>
              <a:t>Aplica POO e integração com banco de dados</a:t>
            </a:r>
          </a:p>
        </p:txBody>
      </p:sp>
      <p:sp>
        <p:nvSpPr>
          <p:cNvPr name="Freeform 17" id="17"/>
          <p:cNvSpPr/>
          <p:nvPr/>
        </p:nvSpPr>
        <p:spPr>
          <a:xfrm flipH="false" flipV="false" rot="0">
            <a:off x="16506250" y="8280856"/>
            <a:ext cx="1506100" cy="1506100"/>
          </a:xfrm>
          <a:custGeom>
            <a:avLst/>
            <a:gdLst/>
            <a:ahLst/>
            <a:cxnLst/>
            <a:rect r="r" b="b" t="t" l="l"/>
            <a:pathLst>
              <a:path h="1506100" w="1506100">
                <a:moveTo>
                  <a:pt x="0" y="0"/>
                </a:moveTo>
                <a:lnTo>
                  <a:pt x="1506100" y="0"/>
                </a:lnTo>
                <a:lnTo>
                  <a:pt x="1506100" y="1506100"/>
                </a:lnTo>
                <a:lnTo>
                  <a:pt x="0" y="1506100"/>
                </a:lnTo>
                <a:lnTo>
                  <a:pt x="0" y="0"/>
                </a:lnTo>
                <a:close/>
              </a:path>
            </a:pathLst>
          </a:custGeom>
          <a:blipFill>
            <a:blip r:embed="rId7"/>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12016" y="1943625"/>
            <a:ext cx="6805519" cy="1119759"/>
          </a:xfrm>
          <a:prstGeom prst="rect">
            <a:avLst/>
          </a:prstGeom>
        </p:spPr>
        <p:txBody>
          <a:bodyPr anchor="t" rtlCol="false" tIns="0" lIns="0" bIns="0" rIns="0">
            <a:spAutoFit/>
          </a:bodyPr>
          <a:lstStyle/>
          <a:p>
            <a:pPr algn="ctr">
              <a:lnSpc>
                <a:spcPts val="9156"/>
              </a:lnSpc>
              <a:spcBef>
                <a:spcPct val="0"/>
              </a:spcBef>
            </a:pPr>
            <a:r>
              <a:rPr lang="en-US" b="true" sz="6540">
                <a:solidFill>
                  <a:srgbClr val="2E3094"/>
                </a:solidFill>
                <a:latin typeface="Tomorrow Bold"/>
                <a:ea typeface="Tomorrow Bold"/>
                <a:cs typeface="Tomorrow Bold"/>
                <a:sym typeface="Tomorrow Bold"/>
              </a:rPr>
              <a:t>Objetivo inicial:</a:t>
            </a:r>
          </a:p>
        </p:txBody>
      </p:sp>
      <p:sp>
        <p:nvSpPr>
          <p:cNvPr name="TextBox 3" id="3"/>
          <p:cNvSpPr txBox="true"/>
          <p:nvPr/>
        </p:nvSpPr>
        <p:spPr>
          <a:xfrm rot="0">
            <a:off x="3411349" y="3728868"/>
            <a:ext cx="12036802" cy="2772115"/>
          </a:xfrm>
          <a:prstGeom prst="rect">
            <a:avLst/>
          </a:prstGeom>
        </p:spPr>
        <p:txBody>
          <a:bodyPr anchor="t" rtlCol="false" tIns="0" lIns="0" bIns="0" rIns="0">
            <a:spAutoFit/>
          </a:bodyPr>
          <a:lstStyle/>
          <a:p>
            <a:pPr algn="just">
              <a:lnSpc>
                <a:spcPts val="3717"/>
              </a:lnSpc>
              <a:spcBef>
                <a:spcPct val="0"/>
              </a:spcBef>
            </a:pPr>
            <a:r>
              <a:rPr lang="en-US" sz="2655">
                <a:solidFill>
                  <a:srgbClr val="000000"/>
                </a:solidFill>
                <a:latin typeface="Tomorrow"/>
                <a:ea typeface="Tomorrow"/>
                <a:cs typeface="Tomorrow"/>
                <a:sym typeface="Tomorrow"/>
              </a:rPr>
              <a:t>Cria</a:t>
            </a:r>
            <a:r>
              <a:rPr lang="en-US" sz="2655">
                <a:solidFill>
                  <a:srgbClr val="000000"/>
                </a:solidFill>
                <a:latin typeface="Tomorrow"/>
                <a:ea typeface="Tomorrow"/>
                <a:cs typeface="Tomorrow"/>
                <a:sym typeface="Tomorrow"/>
              </a:rPr>
              <a:t>r um sistema simples em Java que, inicialmente, teria apenas duas partes: uma Calculadora e uma Agenda de Contatos, acessados pela tela inicial. A proposta era aplicar os conceitos de Programação Orientada a Objetos e desenvolver interfaces funcionais usando Swing, mantendo o projeto organizado, intuitivo e com boa integração entre as telas e suas funcionalidades.</a:t>
            </a:r>
          </a:p>
        </p:txBody>
      </p:sp>
      <p:sp>
        <p:nvSpPr>
          <p:cNvPr name="Freeform 4" id="4"/>
          <p:cNvSpPr/>
          <p:nvPr/>
        </p:nvSpPr>
        <p:spPr>
          <a:xfrm flipH="true" flipV="true" rot="0">
            <a:off x="9144000" y="-270665"/>
            <a:ext cx="9256618" cy="1943890"/>
          </a:xfrm>
          <a:custGeom>
            <a:avLst/>
            <a:gdLst/>
            <a:ahLst/>
            <a:cxnLst/>
            <a:rect r="r" b="b" t="t" l="l"/>
            <a:pathLst>
              <a:path h="1943890" w="9256618">
                <a:moveTo>
                  <a:pt x="9256618" y="1943890"/>
                </a:moveTo>
                <a:lnTo>
                  <a:pt x="0" y="1943890"/>
                </a:lnTo>
                <a:lnTo>
                  <a:pt x="0" y="0"/>
                </a:lnTo>
                <a:lnTo>
                  <a:pt x="9256618" y="0"/>
                </a:lnTo>
                <a:lnTo>
                  <a:pt x="9256618" y="194389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3719" y="218966"/>
            <a:ext cx="1425999" cy="1454260"/>
          </a:xfrm>
          <a:custGeom>
            <a:avLst/>
            <a:gdLst/>
            <a:ahLst/>
            <a:cxnLst/>
            <a:rect r="r" b="b" t="t" l="l"/>
            <a:pathLst>
              <a:path h="1454260" w="1425999">
                <a:moveTo>
                  <a:pt x="0" y="0"/>
                </a:moveTo>
                <a:lnTo>
                  <a:pt x="1425999" y="0"/>
                </a:lnTo>
                <a:lnTo>
                  <a:pt x="1425999" y="1454259"/>
                </a:lnTo>
                <a:lnTo>
                  <a:pt x="0" y="1454259"/>
                </a:lnTo>
                <a:lnTo>
                  <a:pt x="0" y="0"/>
                </a:lnTo>
                <a:close/>
              </a:path>
            </a:pathLst>
          </a:custGeom>
          <a:blipFill>
            <a:blip r:embed="rId4"/>
            <a:stretch>
              <a:fillRect l="0" t="0" r="-1981" b="0"/>
            </a:stretch>
          </a:blipFill>
        </p:spPr>
      </p:sp>
      <p:sp>
        <p:nvSpPr>
          <p:cNvPr name="Freeform 6" id="6"/>
          <p:cNvSpPr/>
          <p:nvPr/>
        </p:nvSpPr>
        <p:spPr>
          <a:xfrm flipH="false" flipV="false" rot="0">
            <a:off x="0" y="7932420"/>
            <a:ext cx="9144000" cy="2354580"/>
          </a:xfrm>
          <a:custGeom>
            <a:avLst/>
            <a:gdLst/>
            <a:ahLst/>
            <a:cxnLst/>
            <a:rect r="r" b="b" t="t" l="l"/>
            <a:pathLst>
              <a:path h="2354580" w="9144000">
                <a:moveTo>
                  <a:pt x="0" y="0"/>
                </a:moveTo>
                <a:lnTo>
                  <a:pt x="9144000" y="0"/>
                </a:lnTo>
                <a:lnTo>
                  <a:pt x="9144000" y="2354580"/>
                </a:lnTo>
                <a:lnTo>
                  <a:pt x="0" y="23545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6506250" y="8280856"/>
            <a:ext cx="1506100" cy="1506100"/>
          </a:xfrm>
          <a:custGeom>
            <a:avLst/>
            <a:gdLst/>
            <a:ahLst/>
            <a:cxnLst/>
            <a:rect r="r" b="b" t="t" l="l"/>
            <a:pathLst>
              <a:path h="1506100" w="1506100">
                <a:moveTo>
                  <a:pt x="0" y="0"/>
                </a:moveTo>
                <a:lnTo>
                  <a:pt x="1506100" y="0"/>
                </a:lnTo>
                <a:lnTo>
                  <a:pt x="1506100" y="1506100"/>
                </a:lnTo>
                <a:lnTo>
                  <a:pt x="0" y="1506100"/>
                </a:lnTo>
                <a:lnTo>
                  <a:pt x="0" y="0"/>
                </a:lnTo>
                <a:close/>
              </a:path>
            </a:pathLst>
          </a:custGeom>
          <a:blipFill>
            <a:blip r:embed="rId7"/>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06718" y="1935011"/>
            <a:ext cx="6228606" cy="1119759"/>
          </a:xfrm>
          <a:prstGeom prst="rect">
            <a:avLst/>
          </a:prstGeom>
        </p:spPr>
        <p:txBody>
          <a:bodyPr anchor="t" rtlCol="false" tIns="0" lIns="0" bIns="0" rIns="0">
            <a:spAutoFit/>
          </a:bodyPr>
          <a:lstStyle/>
          <a:p>
            <a:pPr algn="ctr">
              <a:lnSpc>
                <a:spcPts val="9156"/>
              </a:lnSpc>
              <a:spcBef>
                <a:spcPct val="0"/>
              </a:spcBef>
            </a:pPr>
            <a:r>
              <a:rPr lang="en-US" b="true" sz="6540">
                <a:solidFill>
                  <a:srgbClr val="2E3094"/>
                </a:solidFill>
                <a:latin typeface="Tomorrow Bold"/>
                <a:ea typeface="Tomorrow Bold"/>
                <a:cs typeface="Tomorrow Bold"/>
                <a:sym typeface="Tomorrow Bold"/>
              </a:rPr>
              <a:t>Objetivo Final:</a:t>
            </a:r>
          </a:p>
        </p:txBody>
      </p:sp>
      <p:sp>
        <p:nvSpPr>
          <p:cNvPr name="TextBox 3" id="3"/>
          <p:cNvSpPr txBox="true"/>
          <p:nvPr/>
        </p:nvSpPr>
        <p:spPr>
          <a:xfrm rot="0">
            <a:off x="3217323" y="3736230"/>
            <a:ext cx="11853354" cy="3550552"/>
          </a:xfrm>
          <a:prstGeom prst="rect">
            <a:avLst/>
          </a:prstGeom>
        </p:spPr>
        <p:txBody>
          <a:bodyPr anchor="t" rtlCol="false" tIns="0" lIns="0" bIns="0" rIns="0">
            <a:spAutoFit/>
          </a:bodyPr>
          <a:lstStyle/>
          <a:p>
            <a:pPr algn="just">
              <a:lnSpc>
                <a:spcPts val="3563"/>
              </a:lnSpc>
              <a:spcBef>
                <a:spcPct val="0"/>
              </a:spcBef>
            </a:pPr>
            <a:r>
              <a:rPr lang="en-US" sz="2545">
                <a:solidFill>
                  <a:srgbClr val="000000"/>
                </a:solidFill>
                <a:latin typeface="Tomorrow"/>
                <a:ea typeface="Tomorrow"/>
                <a:cs typeface="Tomorrow"/>
                <a:sym typeface="Tomorrow"/>
              </a:rPr>
              <a:t>A ideia inicial do proj</a:t>
            </a:r>
            <a:r>
              <a:rPr lang="en-US" sz="2545">
                <a:solidFill>
                  <a:srgbClr val="000000"/>
                </a:solidFill>
                <a:latin typeface="Tomorrow"/>
                <a:ea typeface="Tomorrow"/>
                <a:cs typeface="Tomorrow"/>
                <a:sym typeface="Tomorrow"/>
              </a:rPr>
              <a:t>eto era algo bem simples: criar apenas dois botões na tela principal, um abrindo a Calculadora e outro levando para a Agenda de Contatos. Mas, conforme fomos montando o projeto, pensamos em adicionar uma terceira funcionalidade que deixasse o sistema mais interessante e mostrasse melhor o que aprendemos. Foi aí que incluímos o Conversor de Temperatura, ampliando o menu inicial para três botões. No fim, o sistema ficou mais funcional e com mais opções para o usuário.</a:t>
            </a:r>
          </a:p>
          <a:p>
            <a:pPr algn="just">
              <a:lnSpc>
                <a:spcPts val="3563"/>
              </a:lnSpc>
              <a:spcBef>
                <a:spcPct val="0"/>
              </a:spcBef>
            </a:pPr>
          </a:p>
        </p:txBody>
      </p:sp>
      <p:sp>
        <p:nvSpPr>
          <p:cNvPr name="Freeform 4" id="4"/>
          <p:cNvSpPr/>
          <p:nvPr/>
        </p:nvSpPr>
        <p:spPr>
          <a:xfrm flipH="true" flipV="true" rot="0">
            <a:off x="6430595" y="-389293"/>
            <a:ext cx="13200118" cy="4125037"/>
          </a:xfrm>
          <a:custGeom>
            <a:avLst/>
            <a:gdLst/>
            <a:ahLst/>
            <a:cxnLst/>
            <a:rect r="r" b="b" t="t" l="l"/>
            <a:pathLst>
              <a:path h="4125037" w="13200118">
                <a:moveTo>
                  <a:pt x="13200118" y="4125037"/>
                </a:moveTo>
                <a:lnTo>
                  <a:pt x="0" y="4125037"/>
                </a:lnTo>
                <a:lnTo>
                  <a:pt x="0" y="0"/>
                </a:lnTo>
                <a:lnTo>
                  <a:pt x="13200118" y="0"/>
                </a:lnTo>
                <a:lnTo>
                  <a:pt x="13200118" y="412503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0" y="7334893"/>
            <a:ext cx="9446743" cy="2952107"/>
          </a:xfrm>
          <a:custGeom>
            <a:avLst/>
            <a:gdLst/>
            <a:ahLst/>
            <a:cxnLst/>
            <a:rect r="r" b="b" t="t" l="l"/>
            <a:pathLst>
              <a:path h="2952107" w="9446743">
                <a:moveTo>
                  <a:pt x="0" y="0"/>
                </a:moveTo>
                <a:lnTo>
                  <a:pt x="9446743" y="0"/>
                </a:lnTo>
                <a:lnTo>
                  <a:pt x="9446743" y="2952107"/>
                </a:lnTo>
                <a:lnTo>
                  <a:pt x="0" y="29521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3719" y="218966"/>
            <a:ext cx="1425999" cy="1454260"/>
          </a:xfrm>
          <a:custGeom>
            <a:avLst/>
            <a:gdLst/>
            <a:ahLst/>
            <a:cxnLst/>
            <a:rect r="r" b="b" t="t" l="l"/>
            <a:pathLst>
              <a:path h="1454260" w="1425999">
                <a:moveTo>
                  <a:pt x="0" y="0"/>
                </a:moveTo>
                <a:lnTo>
                  <a:pt x="1425999" y="0"/>
                </a:lnTo>
                <a:lnTo>
                  <a:pt x="1425999" y="1454259"/>
                </a:lnTo>
                <a:lnTo>
                  <a:pt x="0" y="1454259"/>
                </a:lnTo>
                <a:lnTo>
                  <a:pt x="0" y="0"/>
                </a:lnTo>
                <a:close/>
              </a:path>
            </a:pathLst>
          </a:custGeom>
          <a:blipFill>
            <a:blip r:embed="rId4"/>
            <a:stretch>
              <a:fillRect l="0" t="0" r="-1981" b="0"/>
            </a:stretch>
          </a:blipFill>
        </p:spPr>
      </p:sp>
      <p:sp>
        <p:nvSpPr>
          <p:cNvPr name="Freeform 7" id="7"/>
          <p:cNvSpPr/>
          <p:nvPr/>
        </p:nvSpPr>
        <p:spPr>
          <a:xfrm flipH="false" flipV="false" rot="0">
            <a:off x="16506250" y="8280856"/>
            <a:ext cx="1506100" cy="1506100"/>
          </a:xfrm>
          <a:custGeom>
            <a:avLst/>
            <a:gdLst/>
            <a:ahLst/>
            <a:cxnLst/>
            <a:rect r="r" b="b" t="t" l="l"/>
            <a:pathLst>
              <a:path h="1506100" w="1506100">
                <a:moveTo>
                  <a:pt x="0" y="0"/>
                </a:moveTo>
                <a:lnTo>
                  <a:pt x="1506100" y="0"/>
                </a:lnTo>
                <a:lnTo>
                  <a:pt x="1506100" y="1506100"/>
                </a:lnTo>
                <a:lnTo>
                  <a:pt x="0" y="1506100"/>
                </a:lnTo>
                <a:lnTo>
                  <a:pt x="0" y="0"/>
                </a:lnTo>
                <a:close/>
              </a:path>
            </a:pathLst>
          </a:custGeom>
          <a:blipFill>
            <a:blip r:embed="rId5"/>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696991"/>
            <a:ext cx="10412972" cy="1119759"/>
          </a:xfrm>
          <a:prstGeom prst="rect">
            <a:avLst/>
          </a:prstGeom>
        </p:spPr>
        <p:txBody>
          <a:bodyPr anchor="t" rtlCol="false" tIns="0" lIns="0" bIns="0" rIns="0">
            <a:spAutoFit/>
          </a:bodyPr>
          <a:lstStyle/>
          <a:p>
            <a:pPr algn="ctr">
              <a:lnSpc>
                <a:spcPts val="9156"/>
              </a:lnSpc>
              <a:spcBef>
                <a:spcPct val="0"/>
              </a:spcBef>
            </a:pPr>
            <a:r>
              <a:rPr lang="en-US" b="true" sz="6540">
                <a:solidFill>
                  <a:srgbClr val="2E3094"/>
                </a:solidFill>
                <a:latin typeface="Tomorrow Bold"/>
                <a:ea typeface="Tomorrow Bold"/>
                <a:cs typeface="Tomorrow Bold"/>
                <a:sym typeface="Tomorrow Bold"/>
              </a:rPr>
              <a:t>Ferramentas Utilizadas:</a:t>
            </a:r>
          </a:p>
        </p:txBody>
      </p:sp>
      <p:sp>
        <p:nvSpPr>
          <p:cNvPr name="Freeform 3" id="3"/>
          <p:cNvSpPr/>
          <p:nvPr/>
        </p:nvSpPr>
        <p:spPr>
          <a:xfrm flipH="false" flipV="false" rot="0">
            <a:off x="-653415" y="8338185"/>
            <a:ext cx="9144000" cy="2354580"/>
          </a:xfrm>
          <a:custGeom>
            <a:avLst/>
            <a:gdLst/>
            <a:ahLst/>
            <a:cxnLst/>
            <a:rect r="r" b="b" t="t" l="l"/>
            <a:pathLst>
              <a:path h="2354580" w="9144000">
                <a:moveTo>
                  <a:pt x="0" y="0"/>
                </a:moveTo>
                <a:lnTo>
                  <a:pt x="9144000" y="0"/>
                </a:lnTo>
                <a:lnTo>
                  <a:pt x="9144000" y="2354580"/>
                </a:lnTo>
                <a:lnTo>
                  <a:pt x="0" y="23545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3719" y="218966"/>
            <a:ext cx="1425999" cy="1454260"/>
          </a:xfrm>
          <a:custGeom>
            <a:avLst/>
            <a:gdLst/>
            <a:ahLst/>
            <a:cxnLst/>
            <a:rect r="r" b="b" t="t" l="l"/>
            <a:pathLst>
              <a:path h="1454260" w="1425999">
                <a:moveTo>
                  <a:pt x="0" y="0"/>
                </a:moveTo>
                <a:lnTo>
                  <a:pt x="1425999" y="0"/>
                </a:lnTo>
                <a:lnTo>
                  <a:pt x="1425999" y="1454259"/>
                </a:lnTo>
                <a:lnTo>
                  <a:pt x="0" y="1454259"/>
                </a:lnTo>
                <a:lnTo>
                  <a:pt x="0" y="0"/>
                </a:lnTo>
                <a:close/>
              </a:path>
            </a:pathLst>
          </a:custGeom>
          <a:blipFill>
            <a:blip r:embed="rId4"/>
            <a:stretch>
              <a:fillRect l="0" t="0" r="-1981" b="0"/>
            </a:stretch>
          </a:blipFill>
        </p:spPr>
      </p:sp>
      <p:sp>
        <p:nvSpPr>
          <p:cNvPr name="Freeform 5" id="5"/>
          <p:cNvSpPr/>
          <p:nvPr/>
        </p:nvSpPr>
        <p:spPr>
          <a:xfrm flipH="true" flipV="true" rot="0">
            <a:off x="6643703" y="-1033818"/>
            <a:ext cx="13200118" cy="4125037"/>
          </a:xfrm>
          <a:custGeom>
            <a:avLst/>
            <a:gdLst/>
            <a:ahLst/>
            <a:cxnLst/>
            <a:rect r="r" b="b" t="t" l="l"/>
            <a:pathLst>
              <a:path h="4125037" w="13200118">
                <a:moveTo>
                  <a:pt x="13200118" y="4125036"/>
                </a:moveTo>
                <a:lnTo>
                  <a:pt x="0" y="4125036"/>
                </a:lnTo>
                <a:lnTo>
                  <a:pt x="0" y="0"/>
                </a:lnTo>
                <a:lnTo>
                  <a:pt x="13200118" y="0"/>
                </a:lnTo>
                <a:lnTo>
                  <a:pt x="13200118" y="412503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361703" y="4839985"/>
            <a:ext cx="1650647" cy="1650647"/>
          </a:xfrm>
          <a:custGeom>
            <a:avLst/>
            <a:gdLst/>
            <a:ahLst/>
            <a:cxnLst/>
            <a:rect r="r" b="b" t="t" l="l"/>
            <a:pathLst>
              <a:path h="1650647" w="1650647">
                <a:moveTo>
                  <a:pt x="0" y="0"/>
                </a:moveTo>
                <a:lnTo>
                  <a:pt x="1650647" y="0"/>
                </a:lnTo>
                <a:lnTo>
                  <a:pt x="1650647" y="1650647"/>
                </a:lnTo>
                <a:lnTo>
                  <a:pt x="0" y="1650647"/>
                </a:lnTo>
                <a:lnTo>
                  <a:pt x="0" y="0"/>
                </a:lnTo>
                <a:close/>
              </a:path>
            </a:pathLst>
          </a:custGeom>
          <a:blipFill>
            <a:blip r:embed="rId7"/>
            <a:stretch>
              <a:fillRect l="0" t="0" r="0" b="0"/>
            </a:stretch>
          </a:blipFill>
        </p:spPr>
      </p:sp>
      <p:sp>
        <p:nvSpPr>
          <p:cNvPr name="Freeform 7" id="7"/>
          <p:cNvSpPr/>
          <p:nvPr/>
        </p:nvSpPr>
        <p:spPr>
          <a:xfrm flipH="false" flipV="false" rot="0">
            <a:off x="14363076" y="2816750"/>
            <a:ext cx="1738313" cy="1735281"/>
          </a:xfrm>
          <a:custGeom>
            <a:avLst/>
            <a:gdLst/>
            <a:ahLst/>
            <a:cxnLst/>
            <a:rect r="r" b="b" t="t" l="l"/>
            <a:pathLst>
              <a:path h="1735281" w="1738313">
                <a:moveTo>
                  <a:pt x="0" y="0"/>
                </a:moveTo>
                <a:lnTo>
                  <a:pt x="1738313" y="0"/>
                </a:lnTo>
                <a:lnTo>
                  <a:pt x="1738313" y="1735281"/>
                </a:lnTo>
                <a:lnTo>
                  <a:pt x="0" y="1735281"/>
                </a:lnTo>
                <a:lnTo>
                  <a:pt x="0" y="0"/>
                </a:lnTo>
                <a:close/>
              </a:path>
            </a:pathLst>
          </a:custGeom>
          <a:blipFill>
            <a:blip r:embed="rId8"/>
            <a:stretch>
              <a:fillRect l="0" t="0" r="0" b="-174"/>
            </a:stretch>
          </a:blipFill>
        </p:spPr>
      </p:sp>
      <p:sp>
        <p:nvSpPr>
          <p:cNvPr name="Freeform 8" id="8"/>
          <p:cNvSpPr/>
          <p:nvPr/>
        </p:nvSpPr>
        <p:spPr>
          <a:xfrm flipH="false" flipV="false" rot="0">
            <a:off x="14363076" y="4839985"/>
            <a:ext cx="1718917" cy="1718917"/>
          </a:xfrm>
          <a:custGeom>
            <a:avLst/>
            <a:gdLst/>
            <a:ahLst/>
            <a:cxnLst/>
            <a:rect r="r" b="b" t="t" l="l"/>
            <a:pathLst>
              <a:path h="1718917" w="1718917">
                <a:moveTo>
                  <a:pt x="0" y="0"/>
                </a:moveTo>
                <a:lnTo>
                  <a:pt x="1718917" y="0"/>
                </a:lnTo>
                <a:lnTo>
                  <a:pt x="1718917" y="1718916"/>
                </a:lnTo>
                <a:lnTo>
                  <a:pt x="0" y="1718916"/>
                </a:lnTo>
                <a:lnTo>
                  <a:pt x="0" y="0"/>
                </a:lnTo>
                <a:close/>
              </a:path>
            </a:pathLst>
          </a:custGeom>
          <a:blipFill>
            <a:blip r:embed="rId9"/>
            <a:stretch>
              <a:fillRect l="0" t="0" r="0" b="0"/>
            </a:stretch>
          </a:blipFill>
        </p:spPr>
      </p:sp>
      <p:sp>
        <p:nvSpPr>
          <p:cNvPr name="Freeform 9" id="9"/>
          <p:cNvSpPr/>
          <p:nvPr/>
        </p:nvSpPr>
        <p:spPr>
          <a:xfrm flipH="false" flipV="false" rot="0">
            <a:off x="12518500" y="4839985"/>
            <a:ext cx="1444872" cy="1650647"/>
          </a:xfrm>
          <a:custGeom>
            <a:avLst/>
            <a:gdLst/>
            <a:ahLst/>
            <a:cxnLst/>
            <a:rect r="r" b="b" t="t" l="l"/>
            <a:pathLst>
              <a:path h="1650647" w="1444872">
                <a:moveTo>
                  <a:pt x="0" y="0"/>
                </a:moveTo>
                <a:lnTo>
                  <a:pt x="1444872" y="0"/>
                </a:lnTo>
                <a:lnTo>
                  <a:pt x="1444872" y="1650647"/>
                </a:lnTo>
                <a:lnTo>
                  <a:pt x="0" y="1650647"/>
                </a:lnTo>
                <a:lnTo>
                  <a:pt x="0" y="0"/>
                </a:lnTo>
                <a:close/>
              </a:path>
            </a:pathLst>
          </a:custGeom>
          <a:blipFill>
            <a:blip r:embed="rId10"/>
            <a:stretch>
              <a:fillRect l="0" t="0" r="-14241" b="0"/>
            </a:stretch>
          </a:blipFill>
        </p:spPr>
      </p:sp>
      <p:sp>
        <p:nvSpPr>
          <p:cNvPr name="Freeform 10" id="10"/>
          <p:cNvSpPr/>
          <p:nvPr/>
        </p:nvSpPr>
        <p:spPr>
          <a:xfrm flipH="false" flipV="false" rot="0">
            <a:off x="16349039" y="2891612"/>
            <a:ext cx="1585557" cy="1585557"/>
          </a:xfrm>
          <a:custGeom>
            <a:avLst/>
            <a:gdLst/>
            <a:ahLst/>
            <a:cxnLst/>
            <a:rect r="r" b="b" t="t" l="l"/>
            <a:pathLst>
              <a:path h="1585557" w="1585557">
                <a:moveTo>
                  <a:pt x="0" y="0"/>
                </a:moveTo>
                <a:lnTo>
                  <a:pt x="1585556" y="0"/>
                </a:lnTo>
                <a:lnTo>
                  <a:pt x="1585556" y="1585557"/>
                </a:lnTo>
                <a:lnTo>
                  <a:pt x="0" y="1585557"/>
                </a:lnTo>
                <a:lnTo>
                  <a:pt x="0" y="0"/>
                </a:lnTo>
                <a:close/>
              </a:path>
            </a:pathLst>
          </a:custGeom>
          <a:blipFill>
            <a:blip r:embed="rId11"/>
            <a:stretch>
              <a:fillRect l="0" t="0" r="0" b="0"/>
            </a:stretch>
          </a:blipFill>
        </p:spPr>
      </p:sp>
      <p:sp>
        <p:nvSpPr>
          <p:cNvPr name="Freeform 11" id="11"/>
          <p:cNvSpPr/>
          <p:nvPr/>
        </p:nvSpPr>
        <p:spPr>
          <a:xfrm flipH="false" flipV="false" rot="0">
            <a:off x="12374516" y="2816750"/>
            <a:ext cx="1738491" cy="1784936"/>
          </a:xfrm>
          <a:custGeom>
            <a:avLst/>
            <a:gdLst/>
            <a:ahLst/>
            <a:cxnLst/>
            <a:rect r="r" b="b" t="t" l="l"/>
            <a:pathLst>
              <a:path h="1784936" w="1738491">
                <a:moveTo>
                  <a:pt x="0" y="0"/>
                </a:moveTo>
                <a:lnTo>
                  <a:pt x="1738491" y="0"/>
                </a:lnTo>
                <a:lnTo>
                  <a:pt x="1738491" y="1784936"/>
                </a:lnTo>
                <a:lnTo>
                  <a:pt x="0" y="1784936"/>
                </a:lnTo>
                <a:lnTo>
                  <a:pt x="0" y="0"/>
                </a:lnTo>
                <a:close/>
              </a:path>
            </a:pathLst>
          </a:custGeom>
          <a:blipFill>
            <a:blip r:embed="rId12"/>
            <a:stretch>
              <a:fillRect l="-2665" t="-2590" r="-2665" b="0"/>
            </a:stretch>
          </a:blipFill>
        </p:spPr>
      </p:sp>
      <p:sp>
        <p:nvSpPr>
          <p:cNvPr name="Freeform 12" id="12"/>
          <p:cNvSpPr/>
          <p:nvPr/>
        </p:nvSpPr>
        <p:spPr>
          <a:xfrm flipH="false" flipV="false" rot="0">
            <a:off x="16506250" y="8505250"/>
            <a:ext cx="1506100" cy="1506100"/>
          </a:xfrm>
          <a:custGeom>
            <a:avLst/>
            <a:gdLst/>
            <a:ahLst/>
            <a:cxnLst/>
            <a:rect r="r" b="b" t="t" l="l"/>
            <a:pathLst>
              <a:path h="1506100" w="1506100">
                <a:moveTo>
                  <a:pt x="0" y="0"/>
                </a:moveTo>
                <a:lnTo>
                  <a:pt x="1506100" y="0"/>
                </a:lnTo>
                <a:lnTo>
                  <a:pt x="1506100" y="1506100"/>
                </a:lnTo>
                <a:lnTo>
                  <a:pt x="0" y="1506100"/>
                </a:lnTo>
                <a:lnTo>
                  <a:pt x="0" y="0"/>
                </a:lnTo>
                <a:close/>
              </a:path>
            </a:pathLst>
          </a:custGeom>
          <a:blipFill>
            <a:blip r:embed="rId13"/>
            <a:stretch>
              <a:fillRect l="0" t="0" r="0" b="0"/>
            </a:stretch>
          </a:blipFill>
        </p:spPr>
      </p:sp>
      <p:sp>
        <p:nvSpPr>
          <p:cNvPr name="Freeform 13" id="13"/>
          <p:cNvSpPr/>
          <p:nvPr/>
        </p:nvSpPr>
        <p:spPr>
          <a:xfrm flipH="false" flipV="false" rot="0">
            <a:off x="12767303" y="6728757"/>
            <a:ext cx="1595773" cy="1595773"/>
          </a:xfrm>
          <a:custGeom>
            <a:avLst/>
            <a:gdLst/>
            <a:ahLst/>
            <a:cxnLst/>
            <a:rect r="r" b="b" t="t" l="l"/>
            <a:pathLst>
              <a:path h="1595773" w="1595773">
                <a:moveTo>
                  <a:pt x="0" y="0"/>
                </a:moveTo>
                <a:lnTo>
                  <a:pt x="1595773" y="0"/>
                </a:lnTo>
                <a:lnTo>
                  <a:pt x="1595773" y="1595773"/>
                </a:lnTo>
                <a:lnTo>
                  <a:pt x="0" y="1595773"/>
                </a:lnTo>
                <a:lnTo>
                  <a:pt x="0" y="0"/>
                </a:lnTo>
                <a:close/>
              </a:path>
            </a:pathLst>
          </a:custGeom>
          <a:blipFill>
            <a:blip r:embed="rId14"/>
            <a:stretch>
              <a:fillRect l="0" t="0" r="0" b="0"/>
            </a:stretch>
          </a:blipFill>
        </p:spPr>
      </p:sp>
      <p:sp>
        <p:nvSpPr>
          <p:cNvPr name="Freeform 14" id="14"/>
          <p:cNvSpPr/>
          <p:nvPr/>
        </p:nvSpPr>
        <p:spPr>
          <a:xfrm flipH="false" flipV="false" rot="0">
            <a:off x="14393457" y="6490632"/>
            <a:ext cx="1677550" cy="1677550"/>
          </a:xfrm>
          <a:custGeom>
            <a:avLst/>
            <a:gdLst/>
            <a:ahLst/>
            <a:cxnLst/>
            <a:rect r="r" b="b" t="t" l="l"/>
            <a:pathLst>
              <a:path h="1677550" w="1677550">
                <a:moveTo>
                  <a:pt x="0" y="0"/>
                </a:moveTo>
                <a:lnTo>
                  <a:pt x="1677550" y="0"/>
                </a:lnTo>
                <a:lnTo>
                  <a:pt x="1677550" y="1677550"/>
                </a:lnTo>
                <a:lnTo>
                  <a:pt x="0" y="1677550"/>
                </a:lnTo>
                <a:lnTo>
                  <a:pt x="0" y="0"/>
                </a:lnTo>
                <a:close/>
              </a:path>
            </a:pathLst>
          </a:custGeom>
          <a:blipFill>
            <a:blip r:embed="rId15"/>
            <a:stretch>
              <a:fillRect l="0" t="0" r="0" b="0"/>
            </a:stretch>
          </a:blipFill>
        </p:spPr>
      </p:sp>
      <p:sp>
        <p:nvSpPr>
          <p:cNvPr name="Freeform 15" id="15"/>
          <p:cNvSpPr/>
          <p:nvPr/>
        </p:nvSpPr>
        <p:spPr>
          <a:xfrm flipH="false" flipV="false" rot="0">
            <a:off x="16235532" y="6490632"/>
            <a:ext cx="1776818" cy="1776818"/>
          </a:xfrm>
          <a:custGeom>
            <a:avLst/>
            <a:gdLst/>
            <a:ahLst/>
            <a:cxnLst/>
            <a:rect r="r" b="b" t="t" l="l"/>
            <a:pathLst>
              <a:path h="1776818" w="1776818">
                <a:moveTo>
                  <a:pt x="0" y="0"/>
                </a:moveTo>
                <a:lnTo>
                  <a:pt x="1776818" y="0"/>
                </a:lnTo>
                <a:lnTo>
                  <a:pt x="1776818" y="1776818"/>
                </a:lnTo>
                <a:lnTo>
                  <a:pt x="0" y="1776818"/>
                </a:lnTo>
                <a:lnTo>
                  <a:pt x="0" y="0"/>
                </a:lnTo>
                <a:close/>
              </a:path>
            </a:pathLst>
          </a:custGeom>
          <a:blipFill>
            <a:blip r:embed="rId16"/>
            <a:stretch>
              <a:fillRect l="0" t="0" r="0" b="0"/>
            </a:stretch>
          </a:blipFill>
        </p:spPr>
      </p:sp>
      <p:sp>
        <p:nvSpPr>
          <p:cNvPr name="TextBox 16" id="16"/>
          <p:cNvSpPr txBox="true"/>
          <p:nvPr/>
        </p:nvSpPr>
        <p:spPr>
          <a:xfrm rot="0">
            <a:off x="1028700" y="2944806"/>
            <a:ext cx="10196541" cy="5393379"/>
          </a:xfrm>
          <a:prstGeom prst="rect">
            <a:avLst/>
          </a:prstGeom>
        </p:spPr>
        <p:txBody>
          <a:bodyPr anchor="t" rtlCol="false" tIns="0" lIns="0" bIns="0" rIns="0">
            <a:spAutoFit/>
          </a:bodyPr>
          <a:lstStyle/>
          <a:p>
            <a:pPr algn="l" marL="552682" indent="-276341" lvl="1">
              <a:lnSpc>
                <a:spcPts val="3583"/>
              </a:lnSpc>
              <a:buFont typeface="Arial"/>
              <a:buChar char="•"/>
            </a:pPr>
            <a:r>
              <a:rPr lang="en-US" sz="2559">
                <a:solidFill>
                  <a:srgbClr val="2E3094"/>
                </a:solidFill>
                <a:latin typeface="Open Sans"/>
                <a:ea typeface="Open Sans"/>
                <a:cs typeface="Open Sans"/>
                <a:sym typeface="Open Sans"/>
              </a:rPr>
              <a:t>NetBeans - desenvolvimento do código em Java;</a:t>
            </a:r>
          </a:p>
          <a:p>
            <a:pPr algn="l" marL="552682" indent="-276341" lvl="1">
              <a:lnSpc>
                <a:spcPts val="3583"/>
              </a:lnSpc>
              <a:buFont typeface="Arial"/>
              <a:buChar char="•"/>
            </a:pPr>
            <a:r>
              <a:rPr lang="en-US" sz="2559">
                <a:solidFill>
                  <a:srgbClr val="2E3094"/>
                </a:solidFill>
                <a:latin typeface="Open Sans"/>
                <a:ea typeface="Open Sans"/>
                <a:cs typeface="Open Sans"/>
                <a:sym typeface="Open Sans"/>
              </a:rPr>
              <a:t>MySQL Workbench - criação e gerenciamento do banco de dados;</a:t>
            </a:r>
          </a:p>
          <a:p>
            <a:pPr algn="l" marL="552682" indent="-276341" lvl="1">
              <a:lnSpc>
                <a:spcPts val="3583"/>
              </a:lnSpc>
              <a:buFont typeface="Arial"/>
              <a:buChar char="•"/>
            </a:pPr>
            <a:r>
              <a:rPr lang="en-US" sz="2559">
                <a:solidFill>
                  <a:srgbClr val="2E3094"/>
                </a:solidFill>
                <a:latin typeface="Open Sans"/>
                <a:ea typeface="Open Sans"/>
                <a:cs typeface="Open Sans"/>
                <a:sym typeface="Open Sans"/>
              </a:rPr>
              <a:t>GitHub - versionamento e repositório;</a:t>
            </a:r>
          </a:p>
          <a:p>
            <a:pPr algn="l" marL="552682" indent="-276341" lvl="1">
              <a:lnSpc>
                <a:spcPts val="3583"/>
              </a:lnSpc>
              <a:buFont typeface="Arial"/>
              <a:buChar char="•"/>
            </a:pPr>
            <a:r>
              <a:rPr lang="en-US" sz="2559">
                <a:solidFill>
                  <a:srgbClr val="2E3094"/>
                </a:solidFill>
                <a:latin typeface="Open Sans"/>
                <a:ea typeface="Open Sans"/>
                <a:cs typeface="Open Sans"/>
                <a:sym typeface="Open Sans"/>
              </a:rPr>
              <a:t>Youtube - tutorias e referências;</a:t>
            </a:r>
          </a:p>
          <a:p>
            <a:pPr algn="l" marL="552682" indent="-276341" lvl="1">
              <a:lnSpc>
                <a:spcPts val="3583"/>
              </a:lnSpc>
              <a:buFont typeface="Arial"/>
              <a:buChar char="•"/>
            </a:pPr>
            <a:r>
              <a:rPr lang="en-US" sz="2559">
                <a:solidFill>
                  <a:srgbClr val="2E3094"/>
                </a:solidFill>
                <a:latin typeface="Open Sans"/>
                <a:ea typeface="Open Sans"/>
                <a:cs typeface="Open Sans"/>
                <a:sym typeface="Open Sans"/>
              </a:rPr>
              <a:t>Canva - criação da identidade visual e slides;</a:t>
            </a:r>
          </a:p>
          <a:p>
            <a:pPr algn="l" marL="552682" indent="-276341" lvl="1">
              <a:lnSpc>
                <a:spcPts val="3583"/>
              </a:lnSpc>
              <a:buFont typeface="Arial"/>
              <a:buChar char="•"/>
            </a:pPr>
            <a:r>
              <a:rPr lang="en-US" sz="2559">
                <a:solidFill>
                  <a:srgbClr val="2E3094"/>
                </a:solidFill>
                <a:latin typeface="Open Sans"/>
                <a:ea typeface="Open Sans"/>
                <a:cs typeface="Open Sans"/>
                <a:sym typeface="Open Sans"/>
              </a:rPr>
              <a:t>Figma - apoio no design de telas;</a:t>
            </a:r>
          </a:p>
          <a:p>
            <a:pPr algn="l" marL="552682" indent="-276341" lvl="1">
              <a:lnSpc>
                <a:spcPts val="3583"/>
              </a:lnSpc>
              <a:buFont typeface="Arial"/>
              <a:buChar char="•"/>
            </a:pPr>
            <a:r>
              <a:rPr lang="en-US" sz="2559">
                <a:solidFill>
                  <a:srgbClr val="2E3094"/>
                </a:solidFill>
                <a:latin typeface="Open Sans"/>
                <a:ea typeface="Open Sans"/>
                <a:cs typeface="Open Sans"/>
                <a:sym typeface="Open Sans"/>
              </a:rPr>
              <a:t>WhatsApp - comunicação da equipe;</a:t>
            </a:r>
          </a:p>
          <a:p>
            <a:pPr algn="l" marL="552682" indent="-276341" lvl="1">
              <a:lnSpc>
                <a:spcPts val="3583"/>
              </a:lnSpc>
              <a:buFont typeface="Arial"/>
              <a:buChar char="•"/>
            </a:pPr>
            <a:r>
              <a:rPr lang="en-US" sz="2559">
                <a:solidFill>
                  <a:srgbClr val="2E3094"/>
                </a:solidFill>
                <a:latin typeface="Open Sans"/>
                <a:ea typeface="Open Sans"/>
                <a:cs typeface="Open Sans"/>
                <a:sym typeface="Open Sans"/>
              </a:rPr>
              <a:t>Chatgpt e Gemini- suporte e resolução de dúvidas;</a:t>
            </a:r>
          </a:p>
          <a:p>
            <a:pPr algn="l" marL="552682" indent="-276341" lvl="1">
              <a:lnSpc>
                <a:spcPts val="3583"/>
              </a:lnSpc>
              <a:buFont typeface="Arial"/>
              <a:buChar char="•"/>
            </a:pPr>
            <a:r>
              <a:rPr lang="en-US" sz="2559">
                <a:solidFill>
                  <a:srgbClr val="2E3094"/>
                </a:solidFill>
                <a:latin typeface="Open Sans"/>
                <a:ea typeface="Open Sans"/>
                <a:cs typeface="Open Sans"/>
                <a:sym typeface="Open Sans"/>
              </a:rPr>
              <a:t>W3Schools - referência de estudos;</a:t>
            </a:r>
          </a:p>
          <a:p>
            <a:pPr algn="l" marL="552682" indent="-276341" lvl="1">
              <a:lnSpc>
                <a:spcPts val="3583"/>
              </a:lnSpc>
              <a:buFont typeface="Arial"/>
              <a:buChar char="•"/>
            </a:pPr>
            <a:r>
              <a:rPr lang="en-US" sz="2559">
                <a:solidFill>
                  <a:srgbClr val="2E3094"/>
                </a:solidFill>
                <a:latin typeface="Open Sans"/>
                <a:ea typeface="Open Sans"/>
                <a:cs typeface="Open Sans"/>
                <a:sym typeface="Open Sans"/>
              </a:rPr>
              <a:t>flaticon.com / icons8.com / svgrepo.com - ícones do projeto</a:t>
            </a:r>
          </a:p>
          <a:p>
            <a:pPr algn="l" marL="552682" indent="-276341" lvl="1">
              <a:lnSpc>
                <a:spcPts val="3583"/>
              </a:lnSpc>
              <a:buFont typeface="Arial"/>
              <a:buChar char="•"/>
            </a:pPr>
            <a:r>
              <a:rPr lang="en-US" sz="2559">
                <a:solidFill>
                  <a:srgbClr val="2E3094"/>
                </a:solidFill>
                <a:latin typeface="Open Sans"/>
                <a:ea typeface="Open Sans"/>
                <a:cs typeface="Open Sans"/>
                <a:sym typeface="Open Sans"/>
              </a:rPr>
              <a:t>Instagram - Rede Social da empresa.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9671807" y="-605991"/>
            <a:ext cx="9256618" cy="1943890"/>
          </a:xfrm>
          <a:custGeom>
            <a:avLst/>
            <a:gdLst/>
            <a:ahLst/>
            <a:cxnLst/>
            <a:rect r="r" b="b" t="t" l="l"/>
            <a:pathLst>
              <a:path h="1943890" w="9256618">
                <a:moveTo>
                  <a:pt x="9256618" y="1943889"/>
                </a:moveTo>
                <a:lnTo>
                  <a:pt x="0" y="1943889"/>
                </a:lnTo>
                <a:lnTo>
                  <a:pt x="0" y="0"/>
                </a:lnTo>
                <a:lnTo>
                  <a:pt x="9256618" y="0"/>
                </a:lnTo>
                <a:lnTo>
                  <a:pt x="9256618" y="194388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7334250"/>
            <a:ext cx="9446743" cy="2952107"/>
          </a:xfrm>
          <a:custGeom>
            <a:avLst/>
            <a:gdLst/>
            <a:ahLst/>
            <a:cxnLst/>
            <a:rect r="r" b="b" t="t" l="l"/>
            <a:pathLst>
              <a:path h="2952107" w="9446743">
                <a:moveTo>
                  <a:pt x="0" y="0"/>
                </a:moveTo>
                <a:lnTo>
                  <a:pt x="9446743" y="0"/>
                </a:lnTo>
                <a:lnTo>
                  <a:pt x="9446743" y="2952107"/>
                </a:lnTo>
                <a:lnTo>
                  <a:pt x="0" y="29521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3719" y="218966"/>
            <a:ext cx="1425999" cy="1454260"/>
          </a:xfrm>
          <a:custGeom>
            <a:avLst/>
            <a:gdLst/>
            <a:ahLst/>
            <a:cxnLst/>
            <a:rect r="r" b="b" t="t" l="l"/>
            <a:pathLst>
              <a:path h="1454260" w="1425999">
                <a:moveTo>
                  <a:pt x="0" y="0"/>
                </a:moveTo>
                <a:lnTo>
                  <a:pt x="1425999" y="0"/>
                </a:lnTo>
                <a:lnTo>
                  <a:pt x="1425999" y="1454259"/>
                </a:lnTo>
                <a:lnTo>
                  <a:pt x="0" y="1454259"/>
                </a:lnTo>
                <a:lnTo>
                  <a:pt x="0" y="0"/>
                </a:lnTo>
                <a:close/>
              </a:path>
            </a:pathLst>
          </a:custGeom>
          <a:blipFill>
            <a:blip r:embed="rId6"/>
            <a:stretch>
              <a:fillRect l="0" t="0" r="-1981" b="0"/>
            </a:stretch>
          </a:blipFill>
        </p:spPr>
      </p:sp>
      <p:sp>
        <p:nvSpPr>
          <p:cNvPr name="Freeform 5" id="5"/>
          <p:cNvSpPr/>
          <p:nvPr/>
        </p:nvSpPr>
        <p:spPr>
          <a:xfrm flipH="false" flipV="false" rot="0">
            <a:off x="14252491" y="3450294"/>
            <a:ext cx="2049878" cy="2049878"/>
          </a:xfrm>
          <a:custGeom>
            <a:avLst/>
            <a:gdLst/>
            <a:ahLst/>
            <a:cxnLst/>
            <a:rect r="r" b="b" t="t" l="l"/>
            <a:pathLst>
              <a:path h="2049878" w="2049878">
                <a:moveTo>
                  <a:pt x="0" y="0"/>
                </a:moveTo>
                <a:lnTo>
                  <a:pt x="2049878" y="0"/>
                </a:lnTo>
                <a:lnTo>
                  <a:pt x="2049878" y="2049878"/>
                </a:lnTo>
                <a:lnTo>
                  <a:pt x="0" y="2049878"/>
                </a:lnTo>
                <a:lnTo>
                  <a:pt x="0" y="0"/>
                </a:lnTo>
                <a:close/>
              </a:path>
            </a:pathLst>
          </a:custGeom>
          <a:blipFill>
            <a:blip r:embed="rId7"/>
            <a:stretch>
              <a:fillRect l="0" t="0" r="0" b="0"/>
            </a:stretch>
          </a:blipFill>
        </p:spPr>
      </p:sp>
      <p:sp>
        <p:nvSpPr>
          <p:cNvPr name="TextBox 6" id="6"/>
          <p:cNvSpPr txBox="true"/>
          <p:nvPr/>
        </p:nvSpPr>
        <p:spPr>
          <a:xfrm rot="0">
            <a:off x="910026" y="1839866"/>
            <a:ext cx="12240291" cy="1119759"/>
          </a:xfrm>
          <a:prstGeom prst="rect">
            <a:avLst/>
          </a:prstGeom>
        </p:spPr>
        <p:txBody>
          <a:bodyPr anchor="t" rtlCol="false" tIns="0" lIns="0" bIns="0" rIns="0">
            <a:spAutoFit/>
          </a:bodyPr>
          <a:lstStyle/>
          <a:p>
            <a:pPr algn="ctr">
              <a:lnSpc>
                <a:spcPts val="9156"/>
              </a:lnSpc>
              <a:spcBef>
                <a:spcPct val="0"/>
              </a:spcBef>
            </a:pPr>
            <a:r>
              <a:rPr lang="en-US" b="true" sz="6540">
                <a:solidFill>
                  <a:srgbClr val="2E3094"/>
                </a:solidFill>
                <a:latin typeface="Tomorrow Bold"/>
                <a:ea typeface="Tomorrow Bold"/>
                <a:cs typeface="Tomorrow Bold"/>
                <a:sym typeface="Tomorrow Bold"/>
              </a:rPr>
              <a:t>Ferramentas não utilizadas:</a:t>
            </a:r>
          </a:p>
        </p:txBody>
      </p:sp>
      <p:sp>
        <p:nvSpPr>
          <p:cNvPr name="TextBox 7" id="7"/>
          <p:cNvSpPr txBox="true"/>
          <p:nvPr/>
        </p:nvSpPr>
        <p:spPr>
          <a:xfrm rot="0">
            <a:off x="1028700" y="3393144"/>
            <a:ext cx="10769849" cy="1417223"/>
          </a:xfrm>
          <a:prstGeom prst="rect">
            <a:avLst/>
          </a:prstGeom>
        </p:spPr>
        <p:txBody>
          <a:bodyPr anchor="t" rtlCol="false" tIns="0" lIns="0" bIns="0" rIns="0">
            <a:spAutoFit/>
          </a:bodyPr>
          <a:lstStyle/>
          <a:p>
            <a:pPr algn="l" marL="583757" indent="-291879" lvl="1">
              <a:lnSpc>
                <a:spcPts val="3785"/>
              </a:lnSpc>
              <a:buFont typeface="Arial"/>
              <a:buChar char="•"/>
            </a:pPr>
            <a:r>
              <a:rPr lang="en-US" sz="2703">
                <a:solidFill>
                  <a:srgbClr val="2E3094"/>
                </a:solidFill>
                <a:latin typeface="Open Sans"/>
                <a:ea typeface="Open Sans"/>
                <a:cs typeface="Open Sans"/>
                <a:sym typeface="Open Sans"/>
              </a:rPr>
              <a:t>Discord - chegou a ser considerado para a comunicação, mas não foi nescessário. Achamos o WhatsApp melhor e mais prático para a comunicação da equipe.</a:t>
            </a:r>
          </a:p>
        </p:txBody>
      </p:sp>
      <p:grpSp>
        <p:nvGrpSpPr>
          <p:cNvPr name="Group 8" id="8"/>
          <p:cNvGrpSpPr/>
          <p:nvPr/>
        </p:nvGrpSpPr>
        <p:grpSpPr>
          <a:xfrm rot="0">
            <a:off x="8712730" y="9149239"/>
            <a:ext cx="10399070" cy="1142594"/>
            <a:chOff x="0" y="0"/>
            <a:chExt cx="2738850" cy="300930"/>
          </a:xfrm>
        </p:grpSpPr>
        <p:sp>
          <p:nvSpPr>
            <p:cNvPr name="Freeform 9" id="9"/>
            <p:cNvSpPr/>
            <p:nvPr/>
          </p:nvSpPr>
          <p:spPr>
            <a:xfrm flipH="false" flipV="false" rot="0">
              <a:off x="0" y="0"/>
              <a:ext cx="2738850" cy="300930"/>
            </a:xfrm>
            <a:custGeom>
              <a:avLst/>
              <a:gdLst/>
              <a:ahLst/>
              <a:cxnLst/>
              <a:rect r="r" b="b" t="t" l="l"/>
              <a:pathLst>
                <a:path h="300930" w="2738850">
                  <a:moveTo>
                    <a:pt x="0" y="0"/>
                  </a:moveTo>
                  <a:lnTo>
                    <a:pt x="2738850" y="0"/>
                  </a:lnTo>
                  <a:lnTo>
                    <a:pt x="2738850" y="300930"/>
                  </a:lnTo>
                  <a:lnTo>
                    <a:pt x="0" y="300930"/>
                  </a:lnTo>
                  <a:close/>
                </a:path>
              </a:pathLst>
            </a:custGeom>
            <a:solidFill>
              <a:srgbClr val="2E3094"/>
            </a:solidFill>
          </p:spPr>
        </p:sp>
        <p:sp>
          <p:nvSpPr>
            <p:cNvPr name="TextBox 10" id="10"/>
            <p:cNvSpPr txBox="true"/>
            <p:nvPr/>
          </p:nvSpPr>
          <p:spPr>
            <a:xfrm>
              <a:off x="0" y="-47625"/>
              <a:ext cx="2738850" cy="348555"/>
            </a:xfrm>
            <a:prstGeom prst="rect">
              <a:avLst/>
            </a:prstGeom>
          </p:spPr>
          <p:txBody>
            <a:bodyPr anchor="ctr" rtlCol="false" tIns="50800" lIns="50800" bIns="50800" rIns="50800"/>
            <a:lstStyle/>
            <a:p>
              <a:pPr algn="ctr">
                <a:lnSpc>
                  <a:spcPts val="3499"/>
                </a:lnSpc>
              </a:pPr>
            </a:p>
          </p:txBody>
        </p:sp>
      </p:grpSp>
      <p:sp>
        <p:nvSpPr>
          <p:cNvPr name="Freeform 11" id="11"/>
          <p:cNvSpPr/>
          <p:nvPr/>
        </p:nvSpPr>
        <p:spPr>
          <a:xfrm flipH="false" flipV="false" rot="0">
            <a:off x="16506250" y="7334250"/>
            <a:ext cx="1506100" cy="1506100"/>
          </a:xfrm>
          <a:custGeom>
            <a:avLst/>
            <a:gdLst/>
            <a:ahLst/>
            <a:cxnLst/>
            <a:rect r="r" b="b" t="t" l="l"/>
            <a:pathLst>
              <a:path h="1506100" w="1506100">
                <a:moveTo>
                  <a:pt x="0" y="0"/>
                </a:moveTo>
                <a:lnTo>
                  <a:pt x="1506100" y="0"/>
                </a:lnTo>
                <a:lnTo>
                  <a:pt x="1506100" y="1506100"/>
                </a:lnTo>
                <a:lnTo>
                  <a:pt x="0" y="1506100"/>
                </a:lnTo>
                <a:lnTo>
                  <a:pt x="0" y="0"/>
                </a:lnTo>
                <a:close/>
              </a:path>
            </a:pathLst>
          </a:custGeom>
          <a:blipFill>
            <a:blip r:embed="rId8"/>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587500"/>
            <a:ext cx="11439402" cy="719326"/>
          </a:xfrm>
          <a:prstGeom prst="rect">
            <a:avLst/>
          </a:prstGeom>
        </p:spPr>
        <p:txBody>
          <a:bodyPr anchor="t" rtlCol="false" tIns="0" lIns="0" bIns="0" rIns="0">
            <a:spAutoFit/>
          </a:bodyPr>
          <a:lstStyle/>
          <a:p>
            <a:pPr algn="ctr">
              <a:lnSpc>
                <a:spcPts val="5824"/>
              </a:lnSpc>
              <a:spcBef>
                <a:spcPct val="0"/>
              </a:spcBef>
            </a:pPr>
            <a:r>
              <a:rPr lang="en-US" b="true" sz="4160">
                <a:solidFill>
                  <a:srgbClr val="2E3094"/>
                </a:solidFill>
                <a:latin typeface="Tomorrow Bold"/>
                <a:ea typeface="Tomorrow Bold"/>
                <a:cs typeface="Tomorrow Bold"/>
                <a:sym typeface="Tomorrow Bold"/>
              </a:rPr>
              <a:t>Skills Técnicas, Pessoais e Aprendizados:</a:t>
            </a:r>
          </a:p>
        </p:txBody>
      </p:sp>
      <p:sp>
        <p:nvSpPr>
          <p:cNvPr name="Freeform 3" id="3"/>
          <p:cNvSpPr/>
          <p:nvPr/>
        </p:nvSpPr>
        <p:spPr>
          <a:xfrm flipH="true" flipV="true" rot="0">
            <a:off x="6430595" y="-679996"/>
            <a:ext cx="13200118" cy="4125037"/>
          </a:xfrm>
          <a:custGeom>
            <a:avLst/>
            <a:gdLst/>
            <a:ahLst/>
            <a:cxnLst/>
            <a:rect r="r" b="b" t="t" l="l"/>
            <a:pathLst>
              <a:path h="4125037" w="13200118">
                <a:moveTo>
                  <a:pt x="13200118" y="4125037"/>
                </a:moveTo>
                <a:lnTo>
                  <a:pt x="0" y="4125037"/>
                </a:lnTo>
                <a:lnTo>
                  <a:pt x="0" y="0"/>
                </a:lnTo>
                <a:lnTo>
                  <a:pt x="13200118" y="0"/>
                </a:lnTo>
                <a:lnTo>
                  <a:pt x="13200118" y="412503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782246"/>
            <a:ext cx="9446743" cy="2952107"/>
          </a:xfrm>
          <a:custGeom>
            <a:avLst/>
            <a:gdLst/>
            <a:ahLst/>
            <a:cxnLst/>
            <a:rect r="r" b="b" t="t" l="l"/>
            <a:pathLst>
              <a:path h="2952107" w="9446743">
                <a:moveTo>
                  <a:pt x="0" y="0"/>
                </a:moveTo>
                <a:lnTo>
                  <a:pt x="9446743" y="0"/>
                </a:lnTo>
                <a:lnTo>
                  <a:pt x="9446743" y="2952108"/>
                </a:lnTo>
                <a:lnTo>
                  <a:pt x="0" y="2952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3719" y="218966"/>
            <a:ext cx="1425999" cy="1454260"/>
          </a:xfrm>
          <a:custGeom>
            <a:avLst/>
            <a:gdLst/>
            <a:ahLst/>
            <a:cxnLst/>
            <a:rect r="r" b="b" t="t" l="l"/>
            <a:pathLst>
              <a:path h="1454260" w="1425999">
                <a:moveTo>
                  <a:pt x="0" y="0"/>
                </a:moveTo>
                <a:lnTo>
                  <a:pt x="1425999" y="0"/>
                </a:lnTo>
                <a:lnTo>
                  <a:pt x="1425999" y="1454259"/>
                </a:lnTo>
                <a:lnTo>
                  <a:pt x="0" y="1454259"/>
                </a:lnTo>
                <a:lnTo>
                  <a:pt x="0" y="0"/>
                </a:lnTo>
                <a:close/>
              </a:path>
            </a:pathLst>
          </a:custGeom>
          <a:blipFill>
            <a:blip r:embed="rId4"/>
            <a:stretch>
              <a:fillRect l="0" t="0" r="-1981" b="0"/>
            </a:stretch>
          </a:blipFill>
        </p:spPr>
      </p:sp>
      <p:sp>
        <p:nvSpPr>
          <p:cNvPr name="TextBox 6" id="6"/>
          <p:cNvSpPr txBox="true"/>
          <p:nvPr/>
        </p:nvSpPr>
        <p:spPr>
          <a:xfrm rot="0">
            <a:off x="1028700" y="2787870"/>
            <a:ext cx="4874465" cy="607129"/>
          </a:xfrm>
          <a:prstGeom prst="rect">
            <a:avLst/>
          </a:prstGeom>
        </p:spPr>
        <p:txBody>
          <a:bodyPr anchor="t" rtlCol="false" tIns="0" lIns="0" bIns="0" rIns="0">
            <a:spAutoFit/>
          </a:bodyPr>
          <a:lstStyle/>
          <a:p>
            <a:pPr algn="ctr">
              <a:lnSpc>
                <a:spcPts val="4968"/>
              </a:lnSpc>
            </a:pPr>
            <a:r>
              <a:rPr lang="en-US" sz="3549" b="true">
                <a:solidFill>
                  <a:srgbClr val="2E3094"/>
                </a:solidFill>
                <a:latin typeface="Open Sans Bold"/>
                <a:ea typeface="Open Sans Bold"/>
                <a:cs typeface="Open Sans Bold"/>
                <a:sym typeface="Open Sans Bold"/>
              </a:rPr>
              <a:t>Hab</a:t>
            </a:r>
            <a:r>
              <a:rPr lang="en-US" b="true" sz="3549">
                <a:solidFill>
                  <a:srgbClr val="2E3094"/>
                </a:solidFill>
                <a:latin typeface="Open Sans Bold"/>
                <a:ea typeface="Open Sans Bold"/>
                <a:cs typeface="Open Sans Bold"/>
                <a:sym typeface="Open Sans Bold"/>
              </a:rPr>
              <a:t>ilidades Técnicas:</a:t>
            </a:r>
          </a:p>
        </p:txBody>
      </p:sp>
      <p:sp>
        <p:nvSpPr>
          <p:cNvPr name="TextBox 7" id="7"/>
          <p:cNvSpPr txBox="true"/>
          <p:nvPr/>
        </p:nvSpPr>
        <p:spPr>
          <a:xfrm rot="0">
            <a:off x="1028700" y="3536154"/>
            <a:ext cx="8115300" cy="1340766"/>
          </a:xfrm>
          <a:prstGeom prst="rect">
            <a:avLst/>
          </a:prstGeom>
        </p:spPr>
        <p:txBody>
          <a:bodyPr anchor="t" rtlCol="false" tIns="0" lIns="0" bIns="0" rIns="0">
            <a:spAutoFit/>
          </a:bodyPr>
          <a:lstStyle/>
          <a:p>
            <a:pPr algn="l">
              <a:lnSpc>
                <a:spcPts val="2697"/>
              </a:lnSpc>
            </a:pPr>
            <a:r>
              <a:rPr lang="en-US" sz="1926">
                <a:solidFill>
                  <a:srgbClr val="2E3094"/>
                </a:solidFill>
                <a:latin typeface="Open Sans"/>
                <a:ea typeface="Open Sans"/>
                <a:cs typeface="Open Sans"/>
                <a:sym typeface="Open Sans"/>
              </a:rPr>
              <a:t>Int</a:t>
            </a:r>
            <a:r>
              <a:rPr lang="en-US" sz="1926">
                <a:solidFill>
                  <a:srgbClr val="2E3094"/>
                </a:solidFill>
                <a:latin typeface="Open Sans"/>
                <a:ea typeface="Open Sans"/>
                <a:cs typeface="Open Sans"/>
                <a:sym typeface="Open Sans"/>
              </a:rPr>
              <a:t>egração dos módulos (calculadora, agenda, login e conversor), adaptação de códigos de outros desenvolvedores, correção de bugs (como a bolinha de elevado •), uso de lógica de programação e POO, organização do projeto, testes e depuração.</a:t>
            </a:r>
          </a:p>
        </p:txBody>
      </p:sp>
      <p:sp>
        <p:nvSpPr>
          <p:cNvPr name="TextBox 8" id="8"/>
          <p:cNvSpPr txBox="true"/>
          <p:nvPr/>
        </p:nvSpPr>
        <p:spPr>
          <a:xfrm rot="0">
            <a:off x="1028700" y="6077070"/>
            <a:ext cx="4874465" cy="607129"/>
          </a:xfrm>
          <a:prstGeom prst="rect">
            <a:avLst/>
          </a:prstGeom>
        </p:spPr>
        <p:txBody>
          <a:bodyPr anchor="t" rtlCol="false" tIns="0" lIns="0" bIns="0" rIns="0">
            <a:spAutoFit/>
          </a:bodyPr>
          <a:lstStyle/>
          <a:p>
            <a:pPr algn="ctr">
              <a:lnSpc>
                <a:spcPts val="4968"/>
              </a:lnSpc>
            </a:pPr>
            <a:r>
              <a:rPr lang="en-US" sz="3549" b="true">
                <a:solidFill>
                  <a:srgbClr val="2E3094"/>
                </a:solidFill>
                <a:latin typeface="Open Sans Bold"/>
                <a:ea typeface="Open Sans Bold"/>
                <a:cs typeface="Open Sans Bold"/>
                <a:sym typeface="Open Sans Bold"/>
              </a:rPr>
              <a:t>Hab</a:t>
            </a:r>
            <a:r>
              <a:rPr lang="en-US" b="true" sz="3549">
                <a:solidFill>
                  <a:srgbClr val="2E3094"/>
                </a:solidFill>
                <a:latin typeface="Open Sans Bold"/>
                <a:ea typeface="Open Sans Bold"/>
                <a:cs typeface="Open Sans Bold"/>
                <a:sym typeface="Open Sans Bold"/>
              </a:rPr>
              <a:t>ilidades Pessoais:</a:t>
            </a:r>
          </a:p>
        </p:txBody>
      </p:sp>
      <p:sp>
        <p:nvSpPr>
          <p:cNvPr name="TextBox 9" id="9"/>
          <p:cNvSpPr txBox="true"/>
          <p:nvPr/>
        </p:nvSpPr>
        <p:spPr>
          <a:xfrm rot="0">
            <a:off x="1028700" y="7001849"/>
            <a:ext cx="8115300" cy="664964"/>
          </a:xfrm>
          <a:prstGeom prst="rect">
            <a:avLst/>
          </a:prstGeom>
        </p:spPr>
        <p:txBody>
          <a:bodyPr anchor="t" rtlCol="false" tIns="0" lIns="0" bIns="0" rIns="0">
            <a:spAutoFit/>
          </a:bodyPr>
          <a:lstStyle/>
          <a:p>
            <a:pPr algn="l">
              <a:lnSpc>
                <a:spcPts val="2697"/>
              </a:lnSpc>
            </a:pPr>
            <a:r>
              <a:rPr lang="en-US" sz="1926">
                <a:solidFill>
                  <a:srgbClr val="2E3094"/>
                </a:solidFill>
                <a:latin typeface="Open Sans"/>
                <a:ea typeface="Open Sans"/>
                <a:cs typeface="Open Sans"/>
                <a:sym typeface="Open Sans"/>
              </a:rPr>
              <a:t>Comunic</a:t>
            </a:r>
            <a:r>
              <a:rPr lang="en-US" sz="1926">
                <a:solidFill>
                  <a:srgbClr val="2E3094"/>
                </a:solidFill>
                <a:latin typeface="Open Sans"/>
                <a:ea typeface="Open Sans"/>
                <a:cs typeface="Open Sans"/>
                <a:sym typeface="Open Sans"/>
              </a:rPr>
              <a:t>ação clara entre a equipe, colaboração, divisão de tarefas, responsabilidade individual, foco no prazo e resolução de problemas.</a:t>
            </a:r>
          </a:p>
        </p:txBody>
      </p:sp>
      <p:sp>
        <p:nvSpPr>
          <p:cNvPr name="TextBox 10" id="10"/>
          <p:cNvSpPr txBox="true"/>
          <p:nvPr/>
        </p:nvSpPr>
        <p:spPr>
          <a:xfrm rot="0">
            <a:off x="10030869" y="4540018"/>
            <a:ext cx="5737366" cy="607129"/>
          </a:xfrm>
          <a:prstGeom prst="rect">
            <a:avLst/>
          </a:prstGeom>
        </p:spPr>
        <p:txBody>
          <a:bodyPr anchor="t" rtlCol="false" tIns="0" lIns="0" bIns="0" rIns="0">
            <a:spAutoFit/>
          </a:bodyPr>
          <a:lstStyle/>
          <a:p>
            <a:pPr algn="ctr">
              <a:lnSpc>
                <a:spcPts val="4968"/>
              </a:lnSpc>
            </a:pPr>
            <a:r>
              <a:rPr lang="en-US" sz="3549" b="true">
                <a:solidFill>
                  <a:srgbClr val="2E3094"/>
                </a:solidFill>
                <a:latin typeface="Open Sans Bold"/>
                <a:ea typeface="Open Sans Bold"/>
                <a:cs typeface="Open Sans Bold"/>
                <a:sym typeface="Open Sans Bold"/>
              </a:rPr>
              <a:t>Apren</a:t>
            </a:r>
            <a:r>
              <a:rPr lang="en-US" b="true" sz="3549">
                <a:solidFill>
                  <a:srgbClr val="2E3094"/>
                </a:solidFill>
                <a:latin typeface="Open Sans Bold"/>
                <a:ea typeface="Open Sans Bold"/>
                <a:cs typeface="Open Sans Bold"/>
                <a:sym typeface="Open Sans Bold"/>
              </a:rPr>
              <a:t>dizados do Projeto:</a:t>
            </a:r>
          </a:p>
        </p:txBody>
      </p:sp>
      <p:sp>
        <p:nvSpPr>
          <p:cNvPr name="TextBox 11" id="11"/>
          <p:cNvSpPr txBox="true"/>
          <p:nvPr/>
        </p:nvSpPr>
        <p:spPr>
          <a:xfrm rot="0">
            <a:off x="10030869" y="5280296"/>
            <a:ext cx="8115300" cy="1340766"/>
          </a:xfrm>
          <a:prstGeom prst="rect">
            <a:avLst/>
          </a:prstGeom>
        </p:spPr>
        <p:txBody>
          <a:bodyPr anchor="t" rtlCol="false" tIns="0" lIns="0" bIns="0" rIns="0">
            <a:spAutoFit/>
          </a:bodyPr>
          <a:lstStyle/>
          <a:p>
            <a:pPr algn="l">
              <a:lnSpc>
                <a:spcPts val="2697"/>
              </a:lnSpc>
            </a:pPr>
            <a:r>
              <a:rPr lang="en-US" sz="1926">
                <a:solidFill>
                  <a:srgbClr val="2E3094"/>
                </a:solidFill>
                <a:latin typeface="Open Sans"/>
                <a:ea typeface="Open Sans"/>
                <a:cs typeface="Open Sans"/>
                <a:sym typeface="Open Sans"/>
              </a:rPr>
              <a:t>Aprimoramos a leitura e compreens</a:t>
            </a:r>
            <a:r>
              <a:rPr lang="en-US" sz="1926">
                <a:solidFill>
                  <a:srgbClr val="2E3094"/>
                </a:solidFill>
                <a:latin typeface="Open Sans"/>
                <a:ea typeface="Open Sans"/>
                <a:cs typeface="Open Sans"/>
                <a:sym typeface="Open Sans"/>
              </a:rPr>
              <a:t>ão de códigos alheios, ganhamos velocidade para depurar erros, melhoramos a integração de diferentes funcionalidades e desenvolvemos uma organização mais sólida no fluxo de desenvolvimento.</a:t>
            </a:r>
          </a:p>
        </p:txBody>
      </p:sp>
      <p:sp>
        <p:nvSpPr>
          <p:cNvPr name="Freeform 12" id="12"/>
          <p:cNvSpPr/>
          <p:nvPr/>
        </p:nvSpPr>
        <p:spPr>
          <a:xfrm flipH="false" flipV="false" rot="0">
            <a:off x="16506250" y="8280856"/>
            <a:ext cx="1506100" cy="1506100"/>
          </a:xfrm>
          <a:custGeom>
            <a:avLst/>
            <a:gdLst/>
            <a:ahLst/>
            <a:cxnLst/>
            <a:rect r="r" b="b" t="t" l="l"/>
            <a:pathLst>
              <a:path h="1506100" w="1506100">
                <a:moveTo>
                  <a:pt x="0" y="0"/>
                </a:moveTo>
                <a:lnTo>
                  <a:pt x="1506100" y="0"/>
                </a:lnTo>
                <a:lnTo>
                  <a:pt x="1506100" y="1506100"/>
                </a:lnTo>
                <a:lnTo>
                  <a:pt x="0" y="1506100"/>
                </a:lnTo>
                <a:lnTo>
                  <a:pt x="0" y="0"/>
                </a:lnTo>
                <a:close/>
              </a:path>
            </a:pathLst>
          </a:custGeom>
          <a:blipFill>
            <a:blip r:embed="rId5"/>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69405" y="9138308"/>
            <a:ext cx="1754675" cy="1148692"/>
            <a:chOff x="0" y="0"/>
            <a:chExt cx="1086388" cy="711200"/>
          </a:xfrm>
        </p:grpSpPr>
        <p:sp>
          <p:nvSpPr>
            <p:cNvPr name="Freeform 3" id="3"/>
            <p:cNvSpPr/>
            <p:nvPr/>
          </p:nvSpPr>
          <p:spPr>
            <a:xfrm flipH="false" flipV="false" rot="0">
              <a:off x="0" y="0"/>
              <a:ext cx="1086388" cy="711200"/>
            </a:xfrm>
            <a:custGeom>
              <a:avLst/>
              <a:gdLst/>
              <a:ahLst/>
              <a:cxnLst/>
              <a:rect r="r" b="b" t="t" l="l"/>
              <a:pathLst>
                <a:path h="711200" w="1086388">
                  <a:moveTo>
                    <a:pt x="543194" y="0"/>
                  </a:moveTo>
                  <a:lnTo>
                    <a:pt x="1086388" y="711200"/>
                  </a:lnTo>
                  <a:lnTo>
                    <a:pt x="0" y="711200"/>
                  </a:lnTo>
                  <a:lnTo>
                    <a:pt x="543194" y="0"/>
                  </a:lnTo>
                  <a:close/>
                </a:path>
              </a:pathLst>
            </a:custGeom>
            <a:solidFill>
              <a:srgbClr val="2E3094"/>
            </a:solidFill>
          </p:spPr>
        </p:sp>
        <p:sp>
          <p:nvSpPr>
            <p:cNvPr name="TextBox 4" id="4"/>
            <p:cNvSpPr txBox="true"/>
            <p:nvPr/>
          </p:nvSpPr>
          <p:spPr>
            <a:xfrm>
              <a:off x="169748" y="263525"/>
              <a:ext cx="746892" cy="396875"/>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0">
            <a:off x="0" y="7334893"/>
            <a:ext cx="9446743" cy="2952107"/>
          </a:xfrm>
          <a:custGeom>
            <a:avLst/>
            <a:gdLst/>
            <a:ahLst/>
            <a:cxnLst/>
            <a:rect r="r" b="b" t="t" l="l"/>
            <a:pathLst>
              <a:path h="2952107" w="9446743">
                <a:moveTo>
                  <a:pt x="0" y="0"/>
                </a:moveTo>
                <a:lnTo>
                  <a:pt x="9446743" y="0"/>
                </a:lnTo>
                <a:lnTo>
                  <a:pt x="9446743" y="2952107"/>
                </a:lnTo>
                <a:lnTo>
                  <a:pt x="0" y="29521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10800000">
            <a:off x="8063970" y="-84680"/>
            <a:ext cx="2160059" cy="1414075"/>
            <a:chOff x="0" y="0"/>
            <a:chExt cx="1086388" cy="711200"/>
          </a:xfrm>
        </p:grpSpPr>
        <p:sp>
          <p:nvSpPr>
            <p:cNvPr name="Freeform 7" id="7"/>
            <p:cNvSpPr/>
            <p:nvPr/>
          </p:nvSpPr>
          <p:spPr>
            <a:xfrm flipH="false" flipV="false" rot="0">
              <a:off x="0" y="0"/>
              <a:ext cx="1086388" cy="711200"/>
            </a:xfrm>
            <a:custGeom>
              <a:avLst/>
              <a:gdLst/>
              <a:ahLst/>
              <a:cxnLst/>
              <a:rect r="r" b="b" t="t" l="l"/>
              <a:pathLst>
                <a:path h="711200" w="1086388">
                  <a:moveTo>
                    <a:pt x="543194" y="0"/>
                  </a:moveTo>
                  <a:lnTo>
                    <a:pt x="1086388" y="711200"/>
                  </a:lnTo>
                  <a:lnTo>
                    <a:pt x="0" y="711200"/>
                  </a:lnTo>
                  <a:lnTo>
                    <a:pt x="543194" y="0"/>
                  </a:lnTo>
                  <a:close/>
                </a:path>
              </a:pathLst>
            </a:custGeom>
            <a:solidFill>
              <a:srgbClr val="2E3094"/>
            </a:solidFill>
          </p:spPr>
        </p:sp>
        <p:sp>
          <p:nvSpPr>
            <p:cNvPr name="TextBox 8" id="8"/>
            <p:cNvSpPr txBox="true"/>
            <p:nvPr/>
          </p:nvSpPr>
          <p:spPr>
            <a:xfrm>
              <a:off x="169748" y="263525"/>
              <a:ext cx="746892" cy="396875"/>
            </a:xfrm>
            <a:prstGeom prst="rect">
              <a:avLst/>
            </a:prstGeom>
          </p:spPr>
          <p:txBody>
            <a:bodyPr anchor="ctr" rtlCol="false" tIns="50800" lIns="50800" bIns="50800" rIns="50800"/>
            <a:lstStyle/>
            <a:p>
              <a:pPr algn="ctr">
                <a:lnSpc>
                  <a:spcPts val="3499"/>
                </a:lnSpc>
              </a:pPr>
            </a:p>
          </p:txBody>
        </p:sp>
      </p:grpSp>
      <p:sp>
        <p:nvSpPr>
          <p:cNvPr name="Freeform 9" id="9"/>
          <p:cNvSpPr/>
          <p:nvPr/>
        </p:nvSpPr>
        <p:spPr>
          <a:xfrm flipH="true" flipV="true" rot="0">
            <a:off x="9144000" y="0"/>
            <a:ext cx="9144000" cy="2354580"/>
          </a:xfrm>
          <a:custGeom>
            <a:avLst/>
            <a:gdLst/>
            <a:ahLst/>
            <a:cxnLst/>
            <a:rect r="r" b="b" t="t" l="l"/>
            <a:pathLst>
              <a:path h="2354580" w="9144000">
                <a:moveTo>
                  <a:pt x="9144000" y="2354580"/>
                </a:moveTo>
                <a:lnTo>
                  <a:pt x="0" y="2354580"/>
                </a:lnTo>
                <a:lnTo>
                  <a:pt x="0" y="0"/>
                </a:lnTo>
                <a:lnTo>
                  <a:pt x="9144000" y="0"/>
                </a:lnTo>
                <a:lnTo>
                  <a:pt x="9144000" y="235458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806718" y="2100969"/>
            <a:ext cx="5761638" cy="1119759"/>
          </a:xfrm>
          <a:prstGeom prst="rect">
            <a:avLst/>
          </a:prstGeom>
        </p:spPr>
        <p:txBody>
          <a:bodyPr anchor="t" rtlCol="false" tIns="0" lIns="0" bIns="0" rIns="0">
            <a:spAutoFit/>
          </a:bodyPr>
          <a:lstStyle/>
          <a:p>
            <a:pPr algn="ctr">
              <a:lnSpc>
                <a:spcPts val="9156"/>
              </a:lnSpc>
              <a:spcBef>
                <a:spcPct val="0"/>
              </a:spcBef>
            </a:pPr>
            <a:r>
              <a:rPr lang="en-US" b="true" sz="6540">
                <a:solidFill>
                  <a:srgbClr val="2E3094"/>
                </a:solidFill>
                <a:latin typeface="Tomorrow Bold"/>
                <a:ea typeface="Tomorrow Bold"/>
                <a:cs typeface="Tomorrow Bold"/>
                <a:sym typeface="Tomorrow Bold"/>
              </a:rPr>
              <a:t>Dificuldades:</a:t>
            </a:r>
          </a:p>
        </p:txBody>
      </p:sp>
      <p:sp>
        <p:nvSpPr>
          <p:cNvPr name="Freeform 11" id="11"/>
          <p:cNvSpPr/>
          <p:nvPr/>
        </p:nvSpPr>
        <p:spPr>
          <a:xfrm flipH="false" flipV="false" rot="0">
            <a:off x="93719" y="218966"/>
            <a:ext cx="1425999" cy="1454260"/>
          </a:xfrm>
          <a:custGeom>
            <a:avLst/>
            <a:gdLst/>
            <a:ahLst/>
            <a:cxnLst/>
            <a:rect r="r" b="b" t="t" l="l"/>
            <a:pathLst>
              <a:path h="1454260" w="1425999">
                <a:moveTo>
                  <a:pt x="0" y="0"/>
                </a:moveTo>
                <a:lnTo>
                  <a:pt x="1425999" y="0"/>
                </a:lnTo>
                <a:lnTo>
                  <a:pt x="1425999" y="1454259"/>
                </a:lnTo>
                <a:lnTo>
                  <a:pt x="0" y="1454259"/>
                </a:lnTo>
                <a:lnTo>
                  <a:pt x="0" y="0"/>
                </a:lnTo>
                <a:close/>
              </a:path>
            </a:pathLst>
          </a:custGeom>
          <a:blipFill>
            <a:blip r:embed="rId6"/>
            <a:stretch>
              <a:fillRect l="0" t="0" r="-1981" b="0"/>
            </a:stretch>
          </a:blipFill>
        </p:spPr>
      </p:sp>
      <p:sp>
        <p:nvSpPr>
          <p:cNvPr name="TextBox 12" id="12"/>
          <p:cNvSpPr txBox="true"/>
          <p:nvPr/>
        </p:nvSpPr>
        <p:spPr>
          <a:xfrm rot="0">
            <a:off x="806718" y="3576983"/>
            <a:ext cx="2760355" cy="581375"/>
          </a:xfrm>
          <a:prstGeom prst="rect">
            <a:avLst/>
          </a:prstGeom>
        </p:spPr>
        <p:txBody>
          <a:bodyPr anchor="t" rtlCol="false" tIns="0" lIns="0" bIns="0" rIns="0">
            <a:spAutoFit/>
          </a:bodyPr>
          <a:lstStyle/>
          <a:p>
            <a:pPr algn="ctr">
              <a:lnSpc>
                <a:spcPts val="4705"/>
              </a:lnSpc>
            </a:pPr>
            <a:r>
              <a:rPr lang="en-US" b="true" sz="3361">
                <a:solidFill>
                  <a:srgbClr val="2E3094"/>
                </a:solidFill>
                <a:latin typeface="Open Sans Bold"/>
                <a:ea typeface="Open Sans Bold"/>
                <a:cs typeface="Open Sans Bold"/>
                <a:sym typeface="Open Sans Bold"/>
              </a:rPr>
              <a:t>José Satiro:</a:t>
            </a:r>
          </a:p>
        </p:txBody>
      </p:sp>
      <p:sp>
        <p:nvSpPr>
          <p:cNvPr name="TextBox 13" id="13"/>
          <p:cNvSpPr txBox="true"/>
          <p:nvPr/>
        </p:nvSpPr>
        <p:spPr>
          <a:xfrm rot="0">
            <a:off x="806718" y="4172605"/>
            <a:ext cx="8640024" cy="1507363"/>
          </a:xfrm>
          <a:prstGeom prst="rect">
            <a:avLst/>
          </a:prstGeom>
        </p:spPr>
        <p:txBody>
          <a:bodyPr anchor="t" rtlCol="false" tIns="0" lIns="0" bIns="0" rIns="0">
            <a:spAutoFit/>
          </a:bodyPr>
          <a:lstStyle/>
          <a:p>
            <a:pPr algn="l">
              <a:lnSpc>
                <a:spcPts val="3016"/>
              </a:lnSpc>
            </a:pPr>
            <a:r>
              <a:rPr lang="en-US" sz="2154">
                <a:solidFill>
                  <a:srgbClr val="2E3094"/>
                </a:solidFill>
                <a:latin typeface="Open Sans"/>
                <a:ea typeface="Open Sans"/>
                <a:cs typeface="Open Sans"/>
                <a:sym typeface="Open Sans"/>
              </a:rPr>
              <a:t>Dura</a:t>
            </a:r>
            <a:r>
              <a:rPr lang="en-US" sz="2154">
                <a:solidFill>
                  <a:srgbClr val="2E3094"/>
                </a:solidFill>
                <a:latin typeface="Open Sans"/>
                <a:ea typeface="Open Sans"/>
                <a:cs typeface="Open Sans"/>
                <a:sym typeface="Open Sans"/>
              </a:rPr>
              <a:t>nte o desenvolvimento do projeto, tive dificuldades ao montar as telas no Swing. Sempre que eu ajustava um componente, como label ou botão, os outros mudavam de posição também. Isso me fez refazer o layout várias vezes até tudo ficar alinhado.</a:t>
            </a:r>
          </a:p>
        </p:txBody>
      </p:sp>
      <p:sp>
        <p:nvSpPr>
          <p:cNvPr name="TextBox 14" id="14"/>
          <p:cNvSpPr txBox="true"/>
          <p:nvPr/>
        </p:nvSpPr>
        <p:spPr>
          <a:xfrm rot="0">
            <a:off x="10324080" y="5370751"/>
            <a:ext cx="3391920" cy="581375"/>
          </a:xfrm>
          <a:prstGeom prst="rect">
            <a:avLst/>
          </a:prstGeom>
        </p:spPr>
        <p:txBody>
          <a:bodyPr anchor="t" rtlCol="false" tIns="0" lIns="0" bIns="0" rIns="0">
            <a:spAutoFit/>
          </a:bodyPr>
          <a:lstStyle/>
          <a:p>
            <a:pPr algn="ctr">
              <a:lnSpc>
                <a:spcPts val="4705"/>
              </a:lnSpc>
            </a:pPr>
            <a:r>
              <a:rPr lang="en-US" sz="3361" b="true">
                <a:solidFill>
                  <a:srgbClr val="2E3094"/>
                </a:solidFill>
                <a:latin typeface="Open Sans Bold"/>
                <a:ea typeface="Open Sans Bold"/>
                <a:cs typeface="Open Sans Bold"/>
                <a:sym typeface="Open Sans Bold"/>
              </a:rPr>
              <a:t>Alisson Sousa:</a:t>
            </a:r>
          </a:p>
        </p:txBody>
      </p:sp>
      <p:sp>
        <p:nvSpPr>
          <p:cNvPr name="TextBox 15" id="15"/>
          <p:cNvSpPr txBox="true"/>
          <p:nvPr/>
        </p:nvSpPr>
        <p:spPr>
          <a:xfrm rot="0">
            <a:off x="10324080" y="5956848"/>
            <a:ext cx="6548426" cy="1406006"/>
          </a:xfrm>
          <a:prstGeom prst="rect">
            <a:avLst/>
          </a:prstGeom>
        </p:spPr>
        <p:txBody>
          <a:bodyPr anchor="t" rtlCol="false" tIns="0" lIns="0" bIns="0" rIns="0">
            <a:spAutoFit/>
          </a:bodyPr>
          <a:lstStyle/>
          <a:p>
            <a:pPr algn="l">
              <a:lnSpc>
                <a:spcPts val="2828"/>
              </a:lnSpc>
            </a:pPr>
            <a:r>
              <a:rPr lang="en-US" sz="2020">
                <a:solidFill>
                  <a:srgbClr val="2E3094"/>
                </a:solidFill>
                <a:latin typeface="Open Sans"/>
                <a:ea typeface="Open Sans"/>
                <a:cs typeface="Open Sans"/>
                <a:sym typeface="Open Sans"/>
              </a:rPr>
              <a:t>As maiores dificuldades foram usar o NetBea</a:t>
            </a:r>
            <a:r>
              <a:rPr lang="en-US" sz="2020">
                <a:solidFill>
                  <a:srgbClr val="2E3094"/>
                </a:solidFill>
                <a:latin typeface="Open Sans"/>
                <a:ea typeface="Open Sans"/>
                <a:cs typeface="Open Sans"/>
                <a:sym typeface="Open Sans"/>
              </a:rPr>
              <a:t>ns, especialmente a parte de design, e conseguir importar o projeto do GitHub sem erros. Também deu trabalho configurar as dependências, conectar com o MySQL.</a:t>
            </a:r>
          </a:p>
        </p:txBody>
      </p:sp>
      <p:sp>
        <p:nvSpPr>
          <p:cNvPr name="Freeform 16" id="16"/>
          <p:cNvSpPr/>
          <p:nvPr/>
        </p:nvSpPr>
        <p:spPr>
          <a:xfrm flipH="false" flipV="false" rot="0">
            <a:off x="16515775" y="8280856"/>
            <a:ext cx="1506100" cy="1506100"/>
          </a:xfrm>
          <a:custGeom>
            <a:avLst/>
            <a:gdLst/>
            <a:ahLst/>
            <a:cxnLst/>
            <a:rect r="r" b="b" t="t" l="l"/>
            <a:pathLst>
              <a:path h="1506100" w="1506100">
                <a:moveTo>
                  <a:pt x="0" y="0"/>
                </a:moveTo>
                <a:lnTo>
                  <a:pt x="1506100" y="0"/>
                </a:lnTo>
                <a:lnTo>
                  <a:pt x="1506100" y="1506100"/>
                </a:lnTo>
                <a:lnTo>
                  <a:pt x="0" y="1506100"/>
                </a:lnTo>
                <a:lnTo>
                  <a:pt x="0" y="0"/>
                </a:lnTo>
                <a:close/>
              </a:path>
            </a:pathLst>
          </a:custGeom>
          <a:blipFill>
            <a:blip r:embed="rId7"/>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69405" y="9138308"/>
            <a:ext cx="1754675" cy="1148692"/>
            <a:chOff x="0" y="0"/>
            <a:chExt cx="1086388" cy="711200"/>
          </a:xfrm>
        </p:grpSpPr>
        <p:sp>
          <p:nvSpPr>
            <p:cNvPr name="Freeform 3" id="3"/>
            <p:cNvSpPr/>
            <p:nvPr/>
          </p:nvSpPr>
          <p:spPr>
            <a:xfrm flipH="false" flipV="false" rot="0">
              <a:off x="0" y="0"/>
              <a:ext cx="1086388" cy="711200"/>
            </a:xfrm>
            <a:custGeom>
              <a:avLst/>
              <a:gdLst/>
              <a:ahLst/>
              <a:cxnLst/>
              <a:rect r="r" b="b" t="t" l="l"/>
              <a:pathLst>
                <a:path h="711200" w="1086388">
                  <a:moveTo>
                    <a:pt x="543194" y="0"/>
                  </a:moveTo>
                  <a:lnTo>
                    <a:pt x="1086388" y="711200"/>
                  </a:lnTo>
                  <a:lnTo>
                    <a:pt x="0" y="711200"/>
                  </a:lnTo>
                  <a:lnTo>
                    <a:pt x="543194" y="0"/>
                  </a:lnTo>
                  <a:close/>
                </a:path>
              </a:pathLst>
            </a:custGeom>
            <a:solidFill>
              <a:srgbClr val="2E3094"/>
            </a:solidFill>
          </p:spPr>
        </p:sp>
        <p:sp>
          <p:nvSpPr>
            <p:cNvPr name="TextBox 4" id="4"/>
            <p:cNvSpPr txBox="true"/>
            <p:nvPr/>
          </p:nvSpPr>
          <p:spPr>
            <a:xfrm>
              <a:off x="169748" y="263525"/>
              <a:ext cx="746892" cy="396875"/>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0">
            <a:off x="0" y="7334893"/>
            <a:ext cx="9446743" cy="2952107"/>
          </a:xfrm>
          <a:custGeom>
            <a:avLst/>
            <a:gdLst/>
            <a:ahLst/>
            <a:cxnLst/>
            <a:rect r="r" b="b" t="t" l="l"/>
            <a:pathLst>
              <a:path h="2952107" w="9446743">
                <a:moveTo>
                  <a:pt x="0" y="0"/>
                </a:moveTo>
                <a:lnTo>
                  <a:pt x="9446743" y="0"/>
                </a:lnTo>
                <a:lnTo>
                  <a:pt x="9446743" y="2952107"/>
                </a:lnTo>
                <a:lnTo>
                  <a:pt x="0" y="29521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10800000">
            <a:off x="8063970" y="-84680"/>
            <a:ext cx="2160059" cy="1414075"/>
            <a:chOff x="0" y="0"/>
            <a:chExt cx="1086388" cy="711200"/>
          </a:xfrm>
        </p:grpSpPr>
        <p:sp>
          <p:nvSpPr>
            <p:cNvPr name="Freeform 7" id="7"/>
            <p:cNvSpPr/>
            <p:nvPr/>
          </p:nvSpPr>
          <p:spPr>
            <a:xfrm flipH="false" flipV="false" rot="0">
              <a:off x="0" y="0"/>
              <a:ext cx="1086388" cy="711200"/>
            </a:xfrm>
            <a:custGeom>
              <a:avLst/>
              <a:gdLst/>
              <a:ahLst/>
              <a:cxnLst/>
              <a:rect r="r" b="b" t="t" l="l"/>
              <a:pathLst>
                <a:path h="711200" w="1086388">
                  <a:moveTo>
                    <a:pt x="543194" y="0"/>
                  </a:moveTo>
                  <a:lnTo>
                    <a:pt x="1086388" y="711200"/>
                  </a:lnTo>
                  <a:lnTo>
                    <a:pt x="0" y="711200"/>
                  </a:lnTo>
                  <a:lnTo>
                    <a:pt x="543194" y="0"/>
                  </a:lnTo>
                  <a:close/>
                </a:path>
              </a:pathLst>
            </a:custGeom>
            <a:solidFill>
              <a:srgbClr val="2E3094"/>
            </a:solidFill>
          </p:spPr>
        </p:sp>
        <p:sp>
          <p:nvSpPr>
            <p:cNvPr name="TextBox 8" id="8"/>
            <p:cNvSpPr txBox="true"/>
            <p:nvPr/>
          </p:nvSpPr>
          <p:spPr>
            <a:xfrm>
              <a:off x="169748" y="263525"/>
              <a:ext cx="746892" cy="396875"/>
            </a:xfrm>
            <a:prstGeom prst="rect">
              <a:avLst/>
            </a:prstGeom>
          </p:spPr>
          <p:txBody>
            <a:bodyPr anchor="ctr" rtlCol="false" tIns="50800" lIns="50800" bIns="50800" rIns="50800"/>
            <a:lstStyle/>
            <a:p>
              <a:pPr algn="ctr">
                <a:lnSpc>
                  <a:spcPts val="3499"/>
                </a:lnSpc>
              </a:pPr>
            </a:p>
          </p:txBody>
        </p:sp>
      </p:grpSp>
      <p:sp>
        <p:nvSpPr>
          <p:cNvPr name="Freeform 9" id="9"/>
          <p:cNvSpPr/>
          <p:nvPr/>
        </p:nvSpPr>
        <p:spPr>
          <a:xfrm flipH="true" flipV="true" rot="0">
            <a:off x="9144000" y="0"/>
            <a:ext cx="9144000" cy="2354580"/>
          </a:xfrm>
          <a:custGeom>
            <a:avLst/>
            <a:gdLst/>
            <a:ahLst/>
            <a:cxnLst/>
            <a:rect r="r" b="b" t="t" l="l"/>
            <a:pathLst>
              <a:path h="2354580" w="9144000">
                <a:moveTo>
                  <a:pt x="9144000" y="2354580"/>
                </a:moveTo>
                <a:lnTo>
                  <a:pt x="0" y="2354580"/>
                </a:lnTo>
                <a:lnTo>
                  <a:pt x="0" y="0"/>
                </a:lnTo>
                <a:lnTo>
                  <a:pt x="9144000" y="0"/>
                </a:lnTo>
                <a:lnTo>
                  <a:pt x="9144000" y="235458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806718" y="2100969"/>
            <a:ext cx="5761638" cy="1119759"/>
          </a:xfrm>
          <a:prstGeom prst="rect">
            <a:avLst/>
          </a:prstGeom>
        </p:spPr>
        <p:txBody>
          <a:bodyPr anchor="t" rtlCol="false" tIns="0" lIns="0" bIns="0" rIns="0">
            <a:spAutoFit/>
          </a:bodyPr>
          <a:lstStyle/>
          <a:p>
            <a:pPr algn="ctr">
              <a:lnSpc>
                <a:spcPts val="9156"/>
              </a:lnSpc>
              <a:spcBef>
                <a:spcPct val="0"/>
              </a:spcBef>
            </a:pPr>
            <a:r>
              <a:rPr lang="en-US" b="true" sz="6540">
                <a:solidFill>
                  <a:srgbClr val="2E3094"/>
                </a:solidFill>
                <a:latin typeface="Tomorrow Bold"/>
                <a:ea typeface="Tomorrow Bold"/>
                <a:cs typeface="Tomorrow Bold"/>
                <a:sym typeface="Tomorrow Bold"/>
              </a:rPr>
              <a:t>Dificuldades:</a:t>
            </a:r>
          </a:p>
        </p:txBody>
      </p:sp>
      <p:sp>
        <p:nvSpPr>
          <p:cNvPr name="Freeform 11" id="11"/>
          <p:cNvSpPr/>
          <p:nvPr/>
        </p:nvSpPr>
        <p:spPr>
          <a:xfrm flipH="false" flipV="false" rot="0">
            <a:off x="93719" y="218966"/>
            <a:ext cx="1425999" cy="1454260"/>
          </a:xfrm>
          <a:custGeom>
            <a:avLst/>
            <a:gdLst/>
            <a:ahLst/>
            <a:cxnLst/>
            <a:rect r="r" b="b" t="t" l="l"/>
            <a:pathLst>
              <a:path h="1454260" w="1425999">
                <a:moveTo>
                  <a:pt x="0" y="0"/>
                </a:moveTo>
                <a:lnTo>
                  <a:pt x="1425999" y="0"/>
                </a:lnTo>
                <a:lnTo>
                  <a:pt x="1425999" y="1454259"/>
                </a:lnTo>
                <a:lnTo>
                  <a:pt x="0" y="1454259"/>
                </a:lnTo>
                <a:lnTo>
                  <a:pt x="0" y="0"/>
                </a:lnTo>
                <a:close/>
              </a:path>
            </a:pathLst>
          </a:custGeom>
          <a:blipFill>
            <a:blip r:embed="rId6"/>
            <a:stretch>
              <a:fillRect l="0" t="0" r="-1981" b="0"/>
            </a:stretch>
          </a:blipFill>
        </p:spPr>
      </p:sp>
      <p:sp>
        <p:nvSpPr>
          <p:cNvPr name="TextBox 12" id="12"/>
          <p:cNvSpPr txBox="true"/>
          <p:nvPr/>
        </p:nvSpPr>
        <p:spPr>
          <a:xfrm rot="0">
            <a:off x="806718" y="3576983"/>
            <a:ext cx="3916653" cy="581375"/>
          </a:xfrm>
          <a:prstGeom prst="rect">
            <a:avLst/>
          </a:prstGeom>
        </p:spPr>
        <p:txBody>
          <a:bodyPr anchor="t" rtlCol="false" tIns="0" lIns="0" bIns="0" rIns="0">
            <a:spAutoFit/>
          </a:bodyPr>
          <a:lstStyle/>
          <a:p>
            <a:pPr algn="ctr">
              <a:lnSpc>
                <a:spcPts val="4705"/>
              </a:lnSpc>
            </a:pPr>
            <a:r>
              <a:rPr lang="en-US" sz="3361" b="true">
                <a:solidFill>
                  <a:srgbClr val="2E3094"/>
                </a:solidFill>
                <a:latin typeface="Open Sans Bold"/>
                <a:ea typeface="Open Sans Bold"/>
                <a:cs typeface="Open Sans Bold"/>
                <a:sym typeface="Open Sans Bold"/>
              </a:rPr>
              <a:t>Arthur Herbster:</a:t>
            </a:r>
          </a:p>
        </p:txBody>
      </p:sp>
      <p:sp>
        <p:nvSpPr>
          <p:cNvPr name="TextBox 13" id="13"/>
          <p:cNvSpPr txBox="true"/>
          <p:nvPr/>
        </p:nvSpPr>
        <p:spPr>
          <a:xfrm rot="0">
            <a:off x="806718" y="4172605"/>
            <a:ext cx="8640024" cy="2269363"/>
          </a:xfrm>
          <a:prstGeom prst="rect">
            <a:avLst/>
          </a:prstGeom>
        </p:spPr>
        <p:txBody>
          <a:bodyPr anchor="t" rtlCol="false" tIns="0" lIns="0" bIns="0" rIns="0">
            <a:spAutoFit/>
          </a:bodyPr>
          <a:lstStyle/>
          <a:p>
            <a:pPr algn="l">
              <a:lnSpc>
                <a:spcPts val="3016"/>
              </a:lnSpc>
            </a:pPr>
            <a:r>
              <a:rPr lang="en-US" sz="2154">
                <a:solidFill>
                  <a:srgbClr val="2E3094"/>
                </a:solidFill>
                <a:latin typeface="Open Sans"/>
                <a:ea typeface="Open Sans"/>
                <a:cs typeface="Open Sans"/>
                <a:sym typeface="Open Sans"/>
              </a:rPr>
              <a:t>Mi</a:t>
            </a:r>
            <a:r>
              <a:rPr lang="en-US" sz="2154">
                <a:solidFill>
                  <a:srgbClr val="2E3094"/>
                </a:solidFill>
                <a:latin typeface="Open Sans"/>
                <a:ea typeface="Open Sans"/>
                <a:cs typeface="Open Sans"/>
                <a:sym typeface="Open Sans"/>
              </a:rPr>
              <a:t>nhas maiores dificuldades foram transferir para meu notebook os códigos dos outros desenvolvedores calculadora, agenda de contatos e tela de login, pois surgiram erros e incompatibilidades. Além disso, no conversor de temperatura, o problema estava na bolinha de elevado (•), que gerava falhas no código e exigiu vários ajustes até funcionar</a:t>
            </a:r>
          </a:p>
        </p:txBody>
      </p:sp>
      <p:sp>
        <p:nvSpPr>
          <p:cNvPr name="TextBox 14" id="14"/>
          <p:cNvSpPr txBox="true"/>
          <p:nvPr/>
        </p:nvSpPr>
        <p:spPr>
          <a:xfrm rot="0">
            <a:off x="11334967" y="7171268"/>
            <a:ext cx="4136383" cy="581375"/>
          </a:xfrm>
          <a:prstGeom prst="rect">
            <a:avLst/>
          </a:prstGeom>
        </p:spPr>
        <p:txBody>
          <a:bodyPr anchor="t" rtlCol="false" tIns="0" lIns="0" bIns="0" rIns="0">
            <a:spAutoFit/>
          </a:bodyPr>
          <a:lstStyle/>
          <a:p>
            <a:pPr algn="ctr">
              <a:lnSpc>
                <a:spcPts val="4705"/>
              </a:lnSpc>
            </a:pPr>
            <a:r>
              <a:rPr lang="en-US" sz="3361" b="true">
                <a:solidFill>
                  <a:srgbClr val="2E3094"/>
                </a:solidFill>
                <a:latin typeface="Open Sans Bold"/>
                <a:ea typeface="Open Sans Bold"/>
                <a:cs typeface="Open Sans Bold"/>
                <a:sym typeface="Open Sans Bold"/>
              </a:rPr>
              <a:t>Willyam Andrade:</a:t>
            </a:r>
          </a:p>
        </p:txBody>
      </p:sp>
      <p:sp>
        <p:nvSpPr>
          <p:cNvPr name="TextBox 15" id="15"/>
          <p:cNvSpPr txBox="true"/>
          <p:nvPr/>
        </p:nvSpPr>
        <p:spPr>
          <a:xfrm rot="0">
            <a:off x="11334967" y="7757366"/>
            <a:ext cx="6548426" cy="1053581"/>
          </a:xfrm>
          <a:prstGeom prst="rect">
            <a:avLst/>
          </a:prstGeom>
        </p:spPr>
        <p:txBody>
          <a:bodyPr anchor="t" rtlCol="false" tIns="0" lIns="0" bIns="0" rIns="0">
            <a:spAutoFit/>
          </a:bodyPr>
          <a:lstStyle/>
          <a:p>
            <a:pPr algn="l">
              <a:lnSpc>
                <a:spcPts val="2828"/>
              </a:lnSpc>
            </a:pPr>
            <a:r>
              <a:rPr lang="en-US" sz="2020">
                <a:solidFill>
                  <a:srgbClr val="2E3094"/>
                </a:solidFill>
                <a:latin typeface="Open Sans"/>
                <a:ea typeface="Open Sans"/>
                <a:cs typeface="Open Sans"/>
                <a:sym typeface="Open Sans"/>
              </a:rPr>
              <a:t>eu</a:t>
            </a:r>
            <a:r>
              <a:rPr lang="en-US" sz="2020">
                <a:solidFill>
                  <a:srgbClr val="2E3094"/>
                </a:solidFill>
                <a:latin typeface="Open Sans"/>
                <a:ea typeface="Open Sans"/>
                <a:cs typeface="Open Sans"/>
                <a:sym typeface="Open Sans"/>
              </a:rPr>
              <a:t> senti dificuldade em fazer o meu</a:t>
            </a:r>
            <a:r>
              <a:rPr lang="en-US" sz="2020">
                <a:solidFill>
                  <a:srgbClr val="2E3094"/>
                </a:solidFill>
                <a:latin typeface="Open Sans"/>
                <a:ea typeface="Open Sans"/>
                <a:cs typeface="Open Sans"/>
                <a:sym typeface="Open Sans"/>
              </a:rPr>
              <a:t> papel no projeto evitando me comunicar com os outros membros do grupo</a:t>
            </a:r>
          </a:p>
        </p:txBody>
      </p:sp>
      <p:sp>
        <p:nvSpPr>
          <p:cNvPr name="TextBox 16" id="16"/>
          <p:cNvSpPr txBox="true"/>
          <p:nvPr/>
        </p:nvSpPr>
        <p:spPr>
          <a:xfrm rot="0">
            <a:off x="11334967" y="3576983"/>
            <a:ext cx="3781071" cy="581375"/>
          </a:xfrm>
          <a:prstGeom prst="rect">
            <a:avLst/>
          </a:prstGeom>
        </p:spPr>
        <p:txBody>
          <a:bodyPr anchor="t" rtlCol="false" tIns="0" lIns="0" bIns="0" rIns="0">
            <a:spAutoFit/>
          </a:bodyPr>
          <a:lstStyle/>
          <a:p>
            <a:pPr algn="ctr">
              <a:lnSpc>
                <a:spcPts val="4705"/>
              </a:lnSpc>
            </a:pPr>
            <a:r>
              <a:rPr lang="en-US" sz="3361" b="true">
                <a:solidFill>
                  <a:srgbClr val="2E3094"/>
                </a:solidFill>
                <a:latin typeface="Open Sans Bold"/>
                <a:ea typeface="Open Sans Bold"/>
                <a:cs typeface="Open Sans Bold"/>
                <a:sym typeface="Open Sans Bold"/>
              </a:rPr>
              <a:t>Wagner Colares:</a:t>
            </a:r>
          </a:p>
        </p:txBody>
      </p:sp>
      <p:sp>
        <p:nvSpPr>
          <p:cNvPr name="TextBox 17" id="17"/>
          <p:cNvSpPr txBox="true"/>
          <p:nvPr/>
        </p:nvSpPr>
        <p:spPr>
          <a:xfrm rot="0">
            <a:off x="11334967" y="4163080"/>
            <a:ext cx="6548426" cy="2110856"/>
          </a:xfrm>
          <a:prstGeom prst="rect">
            <a:avLst/>
          </a:prstGeom>
        </p:spPr>
        <p:txBody>
          <a:bodyPr anchor="t" rtlCol="false" tIns="0" lIns="0" bIns="0" rIns="0">
            <a:spAutoFit/>
          </a:bodyPr>
          <a:lstStyle/>
          <a:p>
            <a:pPr algn="l">
              <a:lnSpc>
                <a:spcPts val="2828"/>
              </a:lnSpc>
            </a:pPr>
            <a:r>
              <a:rPr lang="en-US" sz="2020">
                <a:solidFill>
                  <a:srgbClr val="2E3094"/>
                </a:solidFill>
                <a:latin typeface="Open Sans"/>
                <a:ea typeface="Open Sans"/>
                <a:cs typeface="Open Sans"/>
                <a:sym typeface="Open Sans"/>
              </a:rPr>
              <a:t>mi</a:t>
            </a:r>
            <a:r>
              <a:rPr lang="en-US" sz="2020">
                <a:solidFill>
                  <a:srgbClr val="2E3094"/>
                </a:solidFill>
                <a:latin typeface="Open Sans"/>
                <a:ea typeface="Open Sans"/>
                <a:cs typeface="Open Sans"/>
                <a:sym typeface="Open Sans"/>
              </a:rPr>
              <a:t>nha dificuldade foi no design da calculadora, pois mexia um</a:t>
            </a:r>
            <a:r>
              <a:rPr lang="en-US" sz="2020">
                <a:solidFill>
                  <a:srgbClr val="2E3094"/>
                </a:solidFill>
                <a:latin typeface="Open Sans"/>
                <a:ea typeface="Open Sans"/>
                <a:cs typeface="Open Sans"/>
                <a:sym typeface="Open Sans"/>
              </a:rPr>
              <a:t> componente e outro era afetado. Além disso, teve a questão do NetBeans, que senti um pouco de dificuldade em utilizar ele, pois era algo novo. Conectar a tela da calculadora e o código principal também.</a:t>
            </a:r>
          </a:p>
        </p:txBody>
      </p:sp>
      <p:sp>
        <p:nvSpPr>
          <p:cNvPr name="Freeform 18" id="18"/>
          <p:cNvSpPr/>
          <p:nvPr/>
        </p:nvSpPr>
        <p:spPr>
          <a:xfrm flipH="false" flipV="false" rot="0">
            <a:off x="16506250" y="8505250"/>
            <a:ext cx="1506100" cy="1506100"/>
          </a:xfrm>
          <a:custGeom>
            <a:avLst/>
            <a:gdLst/>
            <a:ahLst/>
            <a:cxnLst/>
            <a:rect r="r" b="b" t="t" l="l"/>
            <a:pathLst>
              <a:path h="1506100" w="1506100">
                <a:moveTo>
                  <a:pt x="0" y="0"/>
                </a:moveTo>
                <a:lnTo>
                  <a:pt x="1506100" y="0"/>
                </a:lnTo>
                <a:lnTo>
                  <a:pt x="1506100" y="1506100"/>
                </a:lnTo>
                <a:lnTo>
                  <a:pt x="0" y="1506100"/>
                </a:lnTo>
                <a:lnTo>
                  <a:pt x="0" y="0"/>
                </a:lnTo>
                <a:close/>
              </a:path>
            </a:pathLst>
          </a:custGeom>
          <a:blipFill>
            <a:blip r:embed="rId7"/>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921165"/>
            <a:ext cx="10278103" cy="1025271"/>
          </a:xfrm>
          <a:prstGeom prst="rect">
            <a:avLst/>
          </a:prstGeom>
        </p:spPr>
        <p:txBody>
          <a:bodyPr anchor="t" rtlCol="false" tIns="0" lIns="0" bIns="0" rIns="0">
            <a:spAutoFit/>
          </a:bodyPr>
          <a:lstStyle/>
          <a:p>
            <a:pPr algn="l">
              <a:lnSpc>
                <a:spcPts val="8175"/>
              </a:lnSpc>
            </a:pPr>
            <a:r>
              <a:rPr lang="en-US" b="true" sz="6540">
                <a:solidFill>
                  <a:srgbClr val="2E3094"/>
                </a:solidFill>
                <a:latin typeface="Tomorrow Bold"/>
                <a:ea typeface="Tomorrow Bold"/>
                <a:cs typeface="Tomorrow Bold"/>
                <a:sym typeface="Tomorrow Bold"/>
              </a:rPr>
              <a:t>ENTREGA:</a:t>
            </a:r>
          </a:p>
        </p:txBody>
      </p:sp>
      <p:sp>
        <p:nvSpPr>
          <p:cNvPr name="Freeform 3" id="3"/>
          <p:cNvSpPr/>
          <p:nvPr/>
        </p:nvSpPr>
        <p:spPr>
          <a:xfrm flipH="true" flipV="true" rot="0">
            <a:off x="6643703" y="-1033818"/>
            <a:ext cx="13200118" cy="4125037"/>
          </a:xfrm>
          <a:custGeom>
            <a:avLst/>
            <a:gdLst/>
            <a:ahLst/>
            <a:cxnLst/>
            <a:rect r="r" b="b" t="t" l="l"/>
            <a:pathLst>
              <a:path h="4125037" w="13200118">
                <a:moveTo>
                  <a:pt x="13200118" y="4125036"/>
                </a:moveTo>
                <a:lnTo>
                  <a:pt x="0" y="4125036"/>
                </a:lnTo>
                <a:lnTo>
                  <a:pt x="0" y="0"/>
                </a:lnTo>
                <a:lnTo>
                  <a:pt x="13200118" y="0"/>
                </a:lnTo>
                <a:lnTo>
                  <a:pt x="13200118" y="412503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7898561">
            <a:off x="5445439" y="-189361"/>
            <a:ext cx="1812063" cy="1022161"/>
            <a:chOff x="0" y="0"/>
            <a:chExt cx="477251" cy="269211"/>
          </a:xfrm>
        </p:grpSpPr>
        <p:sp>
          <p:nvSpPr>
            <p:cNvPr name="Freeform 5" id="5"/>
            <p:cNvSpPr/>
            <p:nvPr/>
          </p:nvSpPr>
          <p:spPr>
            <a:xfrm flipH="false" flipV="false" rot="0">
              <a:off x="0" y="0"/>
              <a:ext cx="477251" cy="269211"/>
            </a:xfrm>
            <a:custGeom>
              <a:avLst/>
              <a:gdLst/>
              <a:ahLst/>
              <a:cxnLst/>
              <a:rect r="r" b="b" t="t" l="l"/>
              <a:pathLst>
                <a:path h="269211" w="477251">
                  <a:moveTo>
                    <a:pt x="0" y="0"/>
                  </a:moveTo>
                  <a:lnTo>
                    <a:pt x="477251" y="0"/>
                  </a:lnTo>
                  <a:lnTo>
                    <a:pt x="477251" y="269211"/>
                  </a:lnTo>
                  <a:lnTo>
                    <a:pt x="0" y="269211"/>
                  </a:lnTo>
                  <a:close/>
                </a:path>
              </a:pathLst>
            </a:custGeom>
            <a:solidFill>
              <a:srgbClr val="071943"/>
            </a:solidFill>
          </p:spPr>
        </p:sp>
        <p:sp>
          <p:nvSpPr>
            <p:cNvPr name="TextBox 6" id="6"/>
            <p:cNvSpPr txBox="true"/>
            <p:nvPr/>
          </p:nvSpPr>
          <p:spPr>
            <a:xfrm>
              <a:off x="0" y="-57150"/>
              <a:ext cx="477251" cy="326361"/>
            </a:xfrm>
            <a:prstGeom prst="rect">
              <a:avLst/>
            </a:prstGeom>
          </p:spPr>
          <p:txBody>
            <a:bodyPr anchor="ctr" rtlCol="false" tIns="50800" lIns="50800" bIns="50800" rIns="50800"/>
            <a:lstStyle/>
            <a:p>
              <a:pPr algn="ctr">
                <a:lnSpc>
                  <a:spcPts val="3500"/>
                </a:lnSpc>
              </a:pPr>
            </a:p>
          </p:txBody>
        </p:sp>
      </p:grpSp>
      <p:sp>
        <p:nvSpPr>
          <p:cNvPr name="Freeform 7" id="7"/>
          <p:cNvSpPr/>
          <p:nvPr/>
        </p:nvSpPr>
        <p:spPr>
          <a:xfrm flipH="false" flipV="false" rot="0">
            <a:off x="10716674" y="9925140"/>
            <a:ext cx="8772362" cy="361860"/>
          </a:xfrm>
          <a:custGeom>
            <a:avLst/>
            <a:gdLst/>
            <a:ahLst/>
            <a:cxnLst/>
            <a:rect r="r" b="b" t="t" l="l"/>
            <a:pathLst>
              <a:path h="361860" w="8772362">
                <a:moveTo>
                  <a:pt x="0" y="0"/>
                </a:moveTo>
                <a:lnTo>
                  <a:pt x="8772362" y="0"/>
                </a:lnTo>
                <a:lnTo>
                  <a:pt x="8772362" y="361860"/>
                </a:lnTo>
                <a:lnTo>
                  <a:pt x="0" y="3618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529057" y="3726135"/>
            <a:ext cx="2427923" cy="2427966"/>
          </a:xfrm>
          <a:custGeom>
            <a:avLst/>
            <a:gdLst/>
            <a:ahLst/>
            <a:cxnLst/>
            <a:rect r="r" b="b" t="t" l="l"/>
            <a:pathLst>
              <a:path h="2427966" w="2427923">
                <a:moveTo>
                  <a:pt x="0" y="0"/>
                </a:moveTo>
                <a:lnTo>
                  <a:pt x="2427922" y="0"/>
                </a:lnTo>
                <a:lnTo>
                  <a:pt x="2427922" y="2427966"/>
                </a:lnTo>
                <a:lnTo>
                  <a:pt x="0" y="2427966"/>
                </a:lnTo>
                <a:lnTo>
                  <a:pt x="0" y="0"/>
                </a:lnTo>
                <a:close/>
              </a:path>
            </a:pathLst>
          </a:custGeom>
          <a:blipFill>
            <a:blip r:embed="rId6"/>
            <a:stretch>
              <a:fillRect l="0" t="0" r="-1" b="0"/>
            </a:stretch>
          </a:blipFill>
        </p:spPr>
      </p:sp>
      <p:sp>
        <p:nvSpPr>
          <p:cNvPr name="Freeform 9" id="9"/>
          <p:cNvSpPr/>
          <p:nvPr/>
        </p:nvSpPr>
        <p:spPr>
          <a:xfrm flipH="false" flipV="false" rot="0">
            <a:off x="6121462" y="3726135"/>
            <a:ext cx="2427966" cy="2427966"/>
          </a:xfrm>
          <a:custGeom>
            <a:avLst/>
            <a:gdLst/>
            <a:ahLst/>
            <a:cxnLst/>
            <a:rect r="r" b="b" t="t" l="l"/>
            <a:pathLst>
              <a:path h="2427966" w="2427966">
                <a:moveTo>
                  <a:pt x="0" y="0"/>
                </a:moveTo>
                <a:lnTo>
                  <a:pt x="2427966" y="0"/>
                </a:lnTo>
                <a:lnTo>
                  <a:pt x="2427966" y="2427966"/>
                </a:lnTo>
                <a:lnTo>
                  <a:pt x="0" y="2427966"/>
                </a:lnTo>
                <a:lnTo>
                  <a:pt x="0" y="0"/>
                </a:lnTo>
                <a:close/>
              </a:path>
            </a:pathLst>
          </a:custGeom>
          <a:blipFill>
            <a:blip r:embed="rId7"/>
            <a:stretch>
              <a:fillRect l="0" t="0" r="0" b="0"/>
            </a:stretch>
          </a:blipFill>
        </p:spPr>
      </p:sp>
      <p:sp>
        <p:nvSpPr>
          <p:cNvPr name="Freeform 10" id="10"/>
          <p:cNvSpPr/>
          <p:nvPr/>
        </p:nvSpPr>
        <p:spPr>
          <a:xfrm flipH="false" flipV="false" rot="0">
            <a:off x="9711478" y="3726135"/>
            <a:ext cx="2427922" cy="2427922"/>
          </a:xfrm>
          <a:custGeom>
            <a:avLst/>
            <a:gdLst/>
            <a:ahLst/>
            <a:cxnLst/>
            <a:rect r="r" b="b" t="t" l="l"/>
            <a:pathLst>
              <a:path h="2427922" w="2427922">
                <a:moveTo>
                  <a:pt x="0" y="0"/>
                </a:moveTo>
                <a:lnTo>
                  <a:pt x="2427923" y="0"/>
                </a:lnTo>
                <a:lnTo>
                  <a:pt x="2427923" y="2427923"/>
                </a:lnTo>
                <a:lnTo>
                  <a:pt x="0" y="2427923"/>
                </a:lnTo>
                <a:lnTo>
                  <a:pt x="0" y="0"/>
                </a:lnTo>
                <a:close/>
              </a:path>
            </a:pathLst>
          </a:custGeom>
          <a:blipFill>
            <a:blip r:embed="rId8"/>
            <a:stretch>
              <a:fillRect l="0" t="0" r="0" b="0"/>
            </a:stretch>
          </a:blipFill>
        </p:spPr>
      </p:sp>
      <p:sp>
        <p:nvSpPr>
          <p:cNvPr name="Freeform 11" id="11"/>
          <p:cNvSpPr/>
          <p:nvPr/>
        </p:nvSpPr>
        <p:spPr>
          <a:xfrm flipH="false" flipV="false" rot="0">
            <a:off x="13301451" y="3797204"/>
            <a:ext cx="2356897" cy="2356897"/>
          </a:xfrm>
          <a:custGeom>
            <a:avLst/>
            <a:gdLst/>
            <a:ahLst/>
            <a:cxnLst/>
            <a:rect r="r" b="b" t="t" l="l"/>
            <a:pathLst>
              <a:path h="2356897" w="2356897">
                <a:moveTo>
                  <a:pt x="0" y="0"/>
                </a:moveTo>
                <a:lnTo>
                  <a:pt x="2356897" y="0"/>
                </a:lnTo>
                <a:lnTo>
                  <a:pt x="2356897" y="2356897"/>
                </a:lnTo>
                <a:lnTo>
                  <a:pt x="0" y="2356897"/>
                </a:lnTo>
                <a:lnTo>
                  <a:pt x="0" y="0"/>
                </a:lnTo>
                <a:close/>
              </a:path>
            </a:pathLst>
          </a:custGeom>
          <a:blipFill>
            <a:blip r:embed="rId9"/>
            <a:stretch>
              <a:fillRect l="0" t="0" r="0" b="0"/>
            </a:stretch>
          </a:blipFill>
        </p:spPr>
      </p:sp>
      <p:sp>
        <p:nvSpPr>
          <p:cNvPr name="TextBox 12" id="12"/>
          <p:cNvSpPr txBox="true"/>
          <p:nvPr/>
        </p:nvSpPr>
        <p:spPr>
          <a:xfrm rot="0">
            <a:off x="1983184" y="6323862"/>
            <a:ext cx="2838439" cy="589915"/>
          </a:xfrm>
          <a:prstGeom prst="rect">
            <a:avLst/>
          </a:prstGeom>
        </p:spPr>
        <p:txBody>
          <a:bodyPr anchor="t" rtlCol="false" tIns="0" lIns="0" bIns="0" rIns="0">
            <a:spAutoFit/>
          </a:bodyPr>
          <a:lstStyle/>
          <a:p>
            <a:pPr algn="ctr">
              <a:lnSpc>
                <a:spcPts val="4759"/>
              </a:lnSpc>
            </a:pPr>
            <a:r>
              <a:rPr lang="en-US" sz="3399">
                <a:solidFill>
                  <a:srgbClr val="000000"/>
                </a:solidFill>
                <a:latin typeface="Tomorrow"/>
                <a:ea typeface="Tomorrow"/>
                <a:cs typeface="Tomorrow"/>
                <a:sym typeface="Tomorrow"/>
              </a:rPr>
              <a:t>Calculadora</a:t>
            </a:r>
          </a:p>
        </p:txBody>
      </p:sp>
      <p:sp>
        <p:nvSpPr>
          <p:cNvPr name="TextBox 13" id="13"/>
          <p:cNvSpPr txBox="true"/>
          <p:nvPr/>
        </p:nvSpPr>
        <p:spPr>
          <a:xfrm rot="0">
            <a:off x="6538991" y="6323862"/>
            <a:ext cx="1592907" cy="589915"/>
          </a:xfrm>
          <a:prstGeom prst="rect">
            <a:avLst/>
          </a:prstGeom>
        </p:spPr>
        <p:txBody>
          <a:bodyPr anchor="t" rtlCol="false" tIns="0" lIns="0" bIns="0" rIns="0">
            <a:spAutoFit/>
          </a:bodyPr>
          <a:lstStyle/>
          <a:p>
            <a:pPr algn="ctr">
              <a:lnSpc>
                <a:spcPts val="4759"/>
              </a:lnSpc>
            </a:pPr>
            <a:r>
              <a:rPr lang="en-US" sz="3399">
                <a:solidFill>
                  <a:srgbClr val="000000"/>
                </a:solidFill>
                <a:latin typeface="Tomorrow"/>
                <a:ea typeface="Tomorrow"/>
                <a:cs typeface="Tomorrow"/>
                <a:sym typeface="Tomorrow"/>
              </a:rPr>
              <a:t>Agenda</a:t>
            </a:r>
          </a:p>
        </p:txBody>
      </p:sp>
      <p:sp>
        <p:nvSpPr>
          <p:cNvPr name="TextBox 14" id="14"/>
          <p:cNvSpPr txBox="true"/>
          <p:nvPr/>
        </p:nvSpPr>
        <p:spPr>
          <a:xfrm rot="0">
            <a:off x="9711478" y="6323862"/>
            <a:ext cx="2526357" cy="589915"/>
          </a:xfrm>
          <a:prstGeom prst="rect">
            <a:avLst/>
          </a:prstGeom>
        </p:spPr>
        <p:txBody>
          <a:bodyPr anchor="t" rtlCol="false" tIns="0" lIns="0" bIns="0" rIns="0">
            <a:spAutoFit/>
          </a:bodyPr>
          <a:lstStyle/>
          <a:p>
            <a:pPr algn="ctr">
              <a:lnSpc>
                <a:spcPts val="4759"/>
              </a:lnSpc>
            </a:pPr>
            <a:r>
              <a:rPr lang="en-US" sz="3399">
                <a:solidFill>
                  <a:srgbClr val="000000"/>
                </a:solidFill>
                <a:latin typeface="Tomorrow"/>
                <a:ea typeface="Tomorrow"/>
                <a:cs typeface="Tomorrow"/>
                <a:sym typeface="Tomorrow"/>
              </a:rPr>
              <a:t>Tela de login</a:t>
            </a:r>
          </a:p>
        </p:txBody>
      </p:sp>
      <p:sp>
        <p:nvSpPr>
          <p:cNvPr name="TextBox 15" id="15"/>
          <p:cNvSpPr txBox="true"/>
          <p:nvPr/>
        </p:nvSpPr>
        <p:spPr>
          <a:xfrm rot="0">
            <a:off x="12237836" y="6297997"/>
            <a:ext cx="4502318" cy="1164884"/>
          </a:xfrm>
          <a:prstGeom prst="rect">
            <a:avLst/>
          </a:prstGeom>
        </p:spPr>
        <p:txBody>
          <a:bodyPr anchor="t" rtlCol="false" tIns="0" lIns="0" bIns="0" rIns="0">
            <a:spAutoFit/>
          </a:bodyPr>
          <a:lstStyle/>
          <a:p>
            <a:pPr algn="ctr">
              <a:lnSpc>
                <a:spcPts val="4693"/>
              </a:lnSpc>
            </a:pPr>
            <a:r>
              <a:rPr lang="en-US" sz="3352">
                <a:solidFill>
                  <a:srgbClr val="000000"/>
                </a:solidFill>
                <a:latin typeface="Tomorrow"/>
                <a:ea typeface="Tomorrow"/>
                <a:cs typeface="Tomorrow"/>
                <a:sym typeface="Tomorrow"/>
              </a:rPr>
              <a:t>Conversor temperatura</a:t>
            </a:r>
          </a:p>
        </p:txBody>
      </p:sp>
      <p:sp>
        <p:nvSpPr>
          <p:cNvPr name="Freeform 16" id="16"/>
          <p:cNvSpPr/>
          <p:nvPr/>
        </p:nvSpPr>
        <p:spPr>
          <a:xfrm flipH="false" flipV="false" rot="0">
            <a:off x="93719" y="218966"/>
            <a:ext cx="1425999" cy="1454260"/>
          </a:xfrm>
          <a:custGeom>
            <a:avLst/>
            <a:gdLst/>
            <a:ahLst/>
            <a:cxnLst/>
            <a:rect r="r" b="b" t="t" l="l"/>
            <a:pathLst>
              <a:path h="1454260" w="1425999">
                <a:moveTo>
                  <a:pt x="0" y="0"/>
                </a:moveTo>
                <a:lnTo>
                  <a:pt x="1425999" y="0"/>
                </a:lnTo>
                <a:lnTo>
                  <a:pt x="1425999" y="1454259"/>
                </a:lnTo>
                <a:lnTo>
                  <a:pt x="0" y="1454259"/>
                </a:lnTo>
                <a:lnTo>
                  <a:pt x="0" y="0"/>
                </a:lnTo>
                <a:close/>
              </a:path>
            </a:pathLst>
          </a:custGeom>
          <a:blipFill>
            <a:blip r:embed="rId10"/>
            <a:stretch>
              <a:fillRect l="0" t="0" r="-1981" b="0"/>
            </a:stretch>
          </a:blipFill>
        </p:spPr>
      </p:sp>
      <p:sp>
        <p:nvSpPr>
          <p:cNvPr name="Freeform 17" id="17"/>
          <p:cNvSpPr/>
          <p:nvPr/>
        </p:nvSpPr>
        <p:spPr>
          <a:xfrm flipH="false" flipV="false" rot="0">
            <a:off x="16506250" y="8280856"/>
            <a:ext cx="1506100" cy="1506100"/>
          </a:xfrm>
          <a:custGeom>
            <a:avLst/>
            <a:gdLst/>
            <a:ahLst/>
            <a:cxnLst/>
            <a:rect r="r" b="b" t="t" l="l"/>
            <a:pathLst>
              <a:path h="1506100" w="1506100">
                <a:moveTo>
                  <a:pt x="0" y="0"/>
                </a:moveTo>
                <a:lnTo>
                  <a:pt x="1506100" y="0"/>
                </a:lnTo>
                <a:lnTo>
                  <a:pt x="1506100" y="1506100"/>
                </a:lnTo>
                <a:lnTo>
                  <a:pt x="0" y="1506100"/>
                </a:lnTo>
                <a:lnTo>
                  <a:pt x="0" y="0"/>
                </a:lnTo>
                <a:close/>
              </a:path>
            </a:pathLst>
          </a:custGeom>
          <a:blipFill>
            <a:blip r:embed="rId11"/>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8841257" y="-220705"/>
            <a:ext cx="9446743" cy="2952107"/>
          </a:xfrm>
          <a:custGeom>
            <a:avLst/>
            <a:gdLst/>
            <a:ahLst/>
            <a:cxnLst/>
            <a:rect r="r" b="b" t="t" l="l"/>
            <a:pathLst>
              <a:path h="2952107" w="9446743">
                <a:moveTo>
                  <a:pt x="9446743" y="2952107"/>
                </a:moveTo>
                <a:lnTo>
                  <a:pt x="0" y="2952107"/>
                </a:lnTo>
                <a:lnTo>
                  <a:pt x="0" y="0"/>
                </a:lnTo>
                <a:lnTo>
                  <a:pt x="9446743" y="0"/>
                </a:lnTo>
                <a:lnTo>
                  <a:pt x="9446743" y="2952107"/>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0800000">
            <a:off x="7963920" y="-220705"/>
            <a:ext cx="1754675" cy="1148692"/>
            <a:chOff x="0" y="0"/>
            <a:chExt cx="1086388" cy="711200"/>
          </a:xfrm>
        </p:grpSpPr>
        <p:sp>
          <p:nvSpPr>
            <p:cNvPr name="Freeform 4" id="4"/>
            <p:cNvSpPr/>
            <p:nvPr/>
          </p:nvSpPr>
          <p:spPr>
            <a:xfrm flipH="false" flipV="false" rot="0">
              <a:off x="0" y="0"/>
              <a:ext cx="1086388" cy="711200"/>
            </a:xfrm>
            <a:custGeom>
              <a:avLst/>
              <a:gdLst/>
              <a:ahLst/>
              <a:cxnLst/>
              <a:rect r="r" b="b" t="t" l="l"/>
              <a:pathLst>
                <a:path h="711200" w="1086388">
                  <a:moveTo>
                    <a:pt x="543194" y="0"/>
                  </a:moveTo>
                  <a:lnTo>
                    <a:pt x="1086388" y="711200"/>
                  </a:lnTo>
                  <a:lnTo>
                    <a:pt x="0" y="711200"/>
                  </a:lnTo>
                  <a:lnTo>
                    <a:pt x="543194" y="0"/>
                  </a:lnTo>
                  <a:close/>
                </a:path>
              </a:pathLst>
            </a:custGeom>
            <a:solidFill>
              <a:srgbClr val="2E3094"/>
            </a:solidFill>
          </p:spPr>
        </p:sp>
        <p:sp>
          <p:nvSpPr>
            <p:cNvPr name="TextBox 5" id="5"/>
            <p:cNvSpPr txBox="true"/>
            <p:nvPr/>
          </p:nvSpPr>
          <p:spPr>
            <a:xfrm>
              <a:off x="169748" y="263525"/>
              <a:ext cx="746892" cy="396875"/>
            </a:xfrm>
            <a:prstGeom prst="rect">
              <a:avLst/>
            </a:prstGeom>
          </p:spPr>
          <p:txBody>
            <a:bodyPr anchor="ctr" rtlCol="false" tIns="50800" lIns="50800" bIns="50800" rIns="50800"/>
            <a:lstStyle/>
            <a:p>
              <a:pPr algn="ctr">
                <a:lnSpc>
                  <a:spcPts val="3499"/>
                </a:lnSpc>
              </a:pPr>
            </a:p>
          </p:txBody>
        </p:sp>
      </p:grpSp>
      <p:sp>
        <p:nvSpPr>
          <p:cNvPr name="Freeform 6" id="6"/>
          <p:cNvSpPr/>
          <p:nvPr/>
        </p:nvSpPr>
        <p:spPr>
          <a:xfrm flipH="false" flipV="false" rot="0">
            <a:off x="93719" y="218966"/>
            <a:ext cx="1425999" cy="1454260"/>
          </a:xfrm>
          <a:custGeom>
            <a:avLst/>
            <a:gdLst/>
            <a:ahLst/>
            <a:cxnLst/>
            <a:rect r="r" b="b" t="t" l="l"/>
            <a:pathLst>
              <a:path h="1454260" w="1425999">
                <a:moveTo>
                  <a:pt x="0" y="0"/>
                </a:moveTo>
                <a:lnTo>
                  <a:pt x="1425999" y="0"/>
                </a:lnTo>
                <a:lnTo>
                  <a:pt x="1425999" y="1454259"/>
                </a:lnTo>
                <a:lnTo>
                  <a:pt x="0" y="1454259"/>
                </a:lnTo>
                <a:lnTo>
                  <a:pt x="0" y="0"/>
                </a:lnTo>
                <a:close/>
              </a:path>
            </a:pathLst>
          </a:custGeom>
          <a:blipFill>
            <a:blip r:embed="rId4"/>
            <a:stretch>
              <a:fillRect l="0" t="0" r="-1981" b="0"/>
            </a:stretch>
          </a:blipFill>
        </p:spPr>
      </p:sp>
      <p:sp>
        <p:nvSpPr>
          <p:cNvPr name="TextBox 7" id="7"/>
          <p:cNvSpPr txBox="true"/>
          <p:nvPr/>
        </p:nvSpPr>
        <p:spPr>
          <a:xfrm rot="0">
            <a:off x="806718" y="1730830"/>
            <a:ext cx="8991723" cy="1119759"/>
          </a:xfrm>
          <a:prstGeom prst="rect">
            <a:avLst/>
          </a:prstGeom>
        </p:spPr>
        <p:txBody>
          <a:bodyPr anchor="t" rtlCol="false" tIns="0" lIns="0" bIns="0" rIns="0">
            <a:spAutoFit/>
          </a:bodyPr>
          <a:lstStyle/>
          <a:p>
            <a:pPr algn="ctr">
              <a:lnSpc>
                <a:spcPts val="9156"/>
              </a:lnSpc>
              <a:spcBef>
                <a:spcPct val="0"/>
              </a:spcBef>
            </a:pPr>
            <a:r>
              <a:rPr lang="en-US" b="true" sz="6540">
                <a:solidFill>
                  <a:srgbClr val="2E3094"/>
                </a:solidFill>
                <a:latin typeface="Tomorrow Bold"/>
                <a:ea typeface="Tomorrow Bold"/>
                <a:cs typeface="Tomorrow Bold"/>
                <a:sym typeface="Tomorrow Bold"/>
              </a:rPr>
              <a:t>O que foi alcançado?</a:t>
            </a:r>
          </a:p>
        </p:txBody>
      </p:sp>
      <p:sp>
        <p:nvSpPr>
          <p:cNvPr name="TextBox 8" id="8"/>
          <p:cNvSpPr txBox="true"/>
          <p:nvPr/>
        </p:nvSpPr>
        <p:spPr>
          <a:xfrm rot="0">
            <a:off x="806718" y="2974414"/>
            <a:ext cx="7688082" cy="2790371"/>
          </a:xfrm>
          <a:prstGeom prst="rect">
            <a:avLst/>
          </a:prstGeom>
        </p:spPr>
        <p:txBody>
          <a:bodyPr anchor="t" rtlCol="false" tIns="0" lIns="0" bIns="0" rIns="0">
            <a:spAutoFit/>
          </a:bodyPr>
          <a:lstStyle/>
          <a:p>
            <a:pPr algn="l">
              <a:lnSpc>
                <a:spcPts val="3700"/>
              </a:lnSpc>
            </a:pPr>
            <a:r>
              <a:rPr lang="en-US" sz="2642">
                <a:solidFill>
                  <a:srgbClr val="2E3094"/>
                </a:solidFill>
                <a:latin typeface="Open Sans"/>
                <a:ea typeface="Open Sans"/>
                <a:cs typeface="Open Sans"/>
                <a:sym typeface="Open Sans"/>
              </a:rPr>
              <a:t>Implementamos a tela de login, calculadora, conversor de temperaturas, agenda de contatos integrada ao MySQL e o modo claro/escuro. O sistema funciona de forma unificada, segura e organizada.</a:t>
            </a:r>
          </a:p>
          <a:p>
            <a:pPr algn="l">
              <a:lnSpc>
                <a:spcPts val="3700"/>
              </a:lnSpc>
            </a:pPr>
          </a:p>
        </p:txBody>
      </p:sp>
      <p:sp>
        <p:nvSpPr>
          <p:cNvPr name="TextBox 9" id="9"/>
          <p:cNvSpPr txBox="true"/>
          <p:nvPr/>
        </p:nvSpPr>
        <p:spPr>
          <a:xfrm rot="0">
            <a:off x="806718" y="5660011"/>
            <a:ext cx="8600777" cy="896620"/>
          </a:xfrm>
          <a:prstGeom prst="rect">
            <a:avLst/>
          </a:prstGeom>
        </p:spPr>
        <p:txBody>
          <a:bodyPr anchor="t" rtlCol="false" tIns="0" lIns="0" bIns="0" rIns="0">
            <a:spAutoFit/>
          </a:bodyPr>
          <a:lstStyle/>
          <a:p>
            <a:pPr algn="ctr">
              <a:lnSpc>
                <a:spcPts val="7279"/>
              </a:lnSpc>
            </a:pPr>
            <a:r>
              <a:rPr lang="en-US" sz="5199" b="true">
                <a:solidFill>
                  <a:srgbClr val="2E3094"/>
                </a:solidFill>
                <a:latin typeface="Tomorrow Bold"/>
                <a:ea typeface="Tomorrow Bold"/>
                <a:cs typeface="Tomorrow Bold"/>
                <a:sym typeface="Tomorrow Bold"/>
              </a:rPr>
              <a:t>Principais aprendizados:</a:t>
            </a:r>
          </a:p>
        </p:txBody>
      </p:sp>
      <p:sp>
        <p:nvSpPr>
          <p:cNvPr name="TextBox 10" id="10"/>
          <p:cNvSpPr txBox="true"/>
          <p:nvPr/>
        </p:nvSpPr>
        <p:spPr>
          <a:xfrm rot="0">
            <a:off x="806718" y="6680456"/>
            <a:ext cx="7688082" cy="2790371"/>
          </a:xfrm>
          <a:prstGeom prst="rect">
            <a:avLst/>
          </a:prstGeom>
        </p:spPr>
        <p:txBody>
          <a:bodyPr anchor="t" rtlCol="false" tIns="0" lIns="0" bIns="0" rIns="0">
            <a:spAutoFit/>
          </a:bodyPr>
          <a:lstStyle/>
          <a:p>
            <a:pPr algn="l">
              <a:lnSpc>
                <a:spcPts val="3700"/>
              </a:lnSpc>
            </a:pPr>
            <a:r>
              <a:rPr lang="en-US" sz="2642">
                <a:solidFill>
                  <a:srgbClr val="2E3094"/>
                </a:solidFill>
                <a:latin typeface="Open Sans"/>
                <a:ea typeface="Open Sans"/>
                <a:cs typeface="Open Sans"/>
                <a:sym typeface="Open Sans"/>
              </a:rPr>
              <a:t>Aprendemos a aplicar POO na prática, criar interfaces gráficas, integrar o sistema ao MySQL, organizar módulos, trabalhar em equipe e melhorar a experiência do usuário com temas e navegação mais intuitiva.</a:t>
            </a:r>
          </a:p>
          <a:p>
            <a:pPr algn="l">
              <a:lnSpc>
                <a:spcPts val="3700"/>
              </a:lnSpc>
            </a:pPr>
          </a:p>
        </p:txBody>
      </p:sp>
      <p:sp>
        <p:nvSpPr>
          <p:cNvPr name="TextBox 11" id="11"/>
          <p:cNvSpPr txBox="true"/>
          <p:nvPr/>
        </p:nvSpPr>
        <p:spPr>
          <a:xfrm rot="0">
            <a:off x="10411823" y="3590000"/>
            <a:ext cx="6441406" cy="808175"/>
          </a:xfrm>
          <a:prstGeom prst="rect">
            <a:avLst/>
          </a:prstGeom>
        </p:spPr>
        <p:txBody>
          <a:bodyPr anchor="t" rtlCol="false" tIns="0" lIns="0" bIns="0" rIns="0">
            <a:spAutoFit/>
          </a:bodyPr>
          <a:lstStyle/>
          <a:p>
            <a:pPr algn="ctr">
              <a:lnSpc>
                <a:spcPts val="6554"/>
              </a:lnSpc>
            </a:pPr>
            <a:r>
              <a:rPr lang="en-US" sz="4681" b="true">
                <a:solidFill>
                  <a:srgbClr val="2E3094"/>
                </a:solidFill>
                <a:latin typeface="Tomorrow Bold"/>
                <a:ea typeface="Tomorrow Bold"/>
                <a:cs typeface="Tomorrow Bold"/>
                <a:sym typeface="Tomorrow Bold"/>
              </a:rPr>
              <a:t>Próximas melhorias:</a:t>
            </a:r>
          </a:p>
        </p:txBody>
      </p:sp>
      <p:sp>
        <p:nvSpPr>
          <p:cNvPr name="TextBox 12" id="12"/>
          <p:cNvSpPr txBox="true"/>
          <p:nvPr/>
        </p:nvSpPr>
        <p:spPr>
          <a:xfrm rot="0">
            <a:off x="10411823" y="4574387"/>
            <a:ext cx="7470106" cy="2323646"/>
          </a:xfrm>
          <a:prstGeom prst="rect">
            <a:avLst/>
          </a:prstGeom>
        </p:spPr>
        <p:txBody>
          <a:bodyPr anchor="t" rtlCol="false" tIns="0" lIns="0" bIns="0" rIns="0">
            <a:spAutoFit/>
          </a:bodyPr>
          <a:lstStyle/>
          <a:p>
            <a:pPr algn="l">
              <a:lnSpc>
                <a:spcPts val="3700"/>
              </a:lnSpc>
            </a:pPr>
            <a:r>
              <a:rPr lang="en-US" sz="2642">
                <a:solidFill>
                  <a:srgbClr val="2E3094"/>
                </a:solidFill>
                <a:latin typeface="Open Sans"/>
                <a:ea typeface="Open Sans"/>
                <a:cs typeface="Open Sans"/>
                <a:sym typeface="Open Sans"/>
              </a:rPr>
              <a:t>Entre os futuros recursos estão: melhorias no design, login mais seguro, agenda mais completa, novas funções de conversão, calculadora científica, notificações, backup de dados e expansão para novas ferramentas.</a:t>
            </a:r>
          </a:p>
        </p:txBody>
      </p:sp>
      <p:sp>
        <p:nvSpPr>
          <p:cNvPr name="Freeform 13" id="13"/>
          <p:cNvSpPr/>
          <p:nvPr/>
        </p:nvSpPr>
        <p:spPr>
          <a:xfrm flipH="false" flipV="false" rot="0">
            <a:off x="16506250" y="8280856"/>
            <a:ext cx="1506100" cy="1506100"/>
          </a:xfrm>
          <a:custGeom>
            <a:avLst/>
            <a:gdLst/>
            <a:ahLst/>
            <a:cxnLst/>
            <a:rect r="r" b="b" t="t" l="l"/>
            <a:pathLst>
              <a:path h="1506100" w="1506100">
                <a:moveTo>
                  <a:pt x="0" y="0"/>
                </a:moveTo>
                <a:lnTo>
                  <a:pt x="1506100" y="0"/>
                </a:lnTo>
                <a:lnTo>
                  <a:pt x="1506100" y="1506100"/>
                </a:lnTo>
                <a:lnTo>
                  <a:pt x="0" y="1506100"/>
                </a:lnTo>
                <a:lnTo>
                  <a:pt x="0" y="0"/>
                </a:lnTo>
                <a:close/>
              </a:path>
            </a:pathLst>
          </a:custGeom>
          <a:blipFill>
            <a:blip r:embed="rId5"/>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8063970" y="-84680"/>
            <a:ext cx="2160059" cy="1414075"/>
            <a:chOff x="0" y="0"/>
            <a:chExt cx="1086388" cy="711200"/>
          </a:xfrm>
        </p:grpSpPr>
        <p:sp>
          <p:nvSpPr>
            <p:cNvPr name="Freeform 3" id="3"/>
            <p:cNvSpPr/>
            <p:nvPr/>
          </p:nvSpPr>
          <p:spPr>
            <a:xfrm flipH="false" flipV="false" rot="0">
              <a:off x="0" y="0"/>
              <a:ext cx="1086388" cy="711200"/>
            </a:xfrm>
            <a:custGeom>
              <a:avLst/>
              <a:gdLst/>
              <a:ahLst/>
              <a:cxnLst/>
              <a:rect r="r" b="b" t="t" l="l"/>
              <a:pathLst>
                <a:path h="711200" w="1086388">
                  <a:moveTo>
                    <a:pt x="543194" y="0"/>
                  </a:moveTo>
                  <a:lnTo>
                    <a:pt x="1086388" y="711200"/>
                  </a:lnTo>
                  <a:lnTo>
                    <a:pt x="0" y="711200"/>
                  </a:lnTo>
                  <a:lnTo>
                    <a:pt x="543194" y="0"/>
                  </a:lnTo>
                  <a:close/>
                </a:path>
              </a:pathLst>
            </a:custGeom>
            <a:solidFill>
              <a:srgbClr val="2E3094"/>
            </a:solidFill>
          </p:spPr>
        </p:sp>
        <p:sp>
          <p:nvSpPr>
            <p:cNvPr name="TextBox 4" id="4"/>
            <p:cNvSpPr txBox="true"/>
            <p:nvPr/>
          </p:nvSpPr>
          <p:spPr>
            <a:xfrm>
              <a:off x="169748" y="263525"/>
              <a:ext cx="746892" cy="396875"/>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true" flipV="true" rot="0">
            <a:off x="9144000" y="0"/>
            <a:ext cx="9144000" cy="2354580"/>
          </a:xfrm>
          <a:custGeom>
            <a:avLst/>
            <a:gdLst/>
            <a:ahLst/>
            <a:cxnLst/>
            <a:rect r="r" b="b" t="t" l="l"/>
            <a:pathLst>
              <a:path h="2354580" w="9144000">
                <a:moveTo>
                  <a:pt x="9144000" y="2354580"/>
                </a:moveTo>
                <a:lnTo>
                  <a:pt x="0" y="2354580"/>
                </a:lnTo>
                <a:lnTo>
                  <a:pt x="0" y="0"/>
                </a:lnTo>
                <a:lnTo>
                  <a:pt x="9144000" y="0"/>
                </a:lnTo>
                <a:lnTo>
                  <a:pt x="9144000" y="235458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8680980" y="8958290"/>
            <a:ext cx="10399070" cy="1328710"/>
            <a:chOff x="0" y="0"/>
            <a:chExt cx="2738850" cy="349948"/>
          </a:xfrm>
        </p:grpSpPr>
        <p:sp>
          <p:nvSpPr>
            <p:cNvPr name="Freeform 7" id="7"/>
            <p:cNvSpPr/>
            <p:nvPr/>
          </p:nvSpPr>
          <p:spPr>
            <a:xfrm flipH="false" flipV="false" rot="0">
              <a:off x="0" y="0"/>
              <a:ext cx="2738850" cy="349948"/>
            </a:xfrm>
            <a:custGeom>
              <a:avLst/>
              <a:gdLst/>
              <a:ahLst/>
              <a:cxnLst/>
              <a:rect r="r" b="b" t="t" l="l"/>
              <a:pathLst>
                <a:path h="349948" w="2738850">
                  <a:moveTo>
                    <a:pt x="0" y="0"/>
                  </a:moveTo>
                  <a:lnTo>
                    <a:pt x="2738850" y="0"/>
                  </a:lnTo>
                  <a:lnTo>
                    <a:pt x="2738850" y="349948"/>
                  </a:lnTo>
                  <a:lnTo>
                    <a:pt x="0" y="349948"/>
                  </a:lnTo>
                  <a:close/>
                </a:path>
              </a:pathLst>
            </a:custGeom>
            <a:solidFill>
              <a:srgbClr val="2E3094"/>
            </a:solidFill>
          </p:spPr>
        </p:sp>
        <p:sp>
          <p:nvSpPr>
            <p:cNvPr name="TextBox 8" id="8"/>
            <p:cNvSpPr txBox="true"/>
            <p:nvPr/>
          </p:nvSpPr>
          <p:spPr>
            <a:xfrm>
              <a:off x="0" y="-47625"/>
              <a:ext cx="2738850" cy="397573"/>
            </a:xfrm>
            <a:prstGeom prst="rect">
              <a:avLst/>
            </a:prstGeom>
          </p:spPr>
          <p:txBody>
            <a:bodyPr anchor="ctr" rtlCol="false" tIns="50800" lIns="50800" bIns="50800" rIns="50800"/>
            <a:lstStyle/>
            <a:p>
              <a:pPr algn="ctr">
                <a:lnSpc>
                  <a:spcPts val="3499"/>
                </a:lnSpc>
              </a:pPr>
            </a:p>
          </p:txBody>
        </p:sp>
      </p:grpSp>
      <p:sp>
        <p:nvSpPr>
          <p:cNvPr name="Freeform 9" id="9"/>
          <p:cNvSpPr/>
          <p:nvPr/>
        </p:nvSpPr>
        <p:spPr>
          <a:xfrm flipH="false" flipV="false" rot="0">
            <a:off x="0" y="7932420"/>
            <a:ext cx="9144000" cy="2354580"/>
          </a:xfrm>
          <a:custGeom>
            <a:avLst/>
            <a:gdLst/>
            <a:ahLst/>
            <a:cxnLst/>
            <a:rect r="r" b="b" t="t" l="l"/>
            <a:pathLst>
              <a:path h="2354580" w="9144000">
                <a:moveTo>
                  <a:pt x="0" y="0"/>
                </a:moveTo>
                <a:lnTo>
                  <a:pt x="9144000" y="0"/>
                </a:lnTo>
                <a:lnTo>
                  <a:pt x="9144000" y="2354580"/>
                </a:lnTo>
                <a:lnTo>
                  <a:pt x="0" y="23545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2595354" y="2545080"/>
            <a:ext cx="13097293" cy="5560072"/>
          </a:xfrm>
          <a:prstGeom prst="rect">
            <a:avLst/>
          </a:prstGeom>
        </p:spPr>
        <p:txBody>
          <a:bodyPr anchor="t" rtlCol="false" tIns="0" lIns="0" bIns="0" rIns="0">
            <a:spAutoFit/>
          </a:bodyPr>
          <a:lstStyle/>
          <a:p>
            <a:pPr algn="ctr">
              <a:lnSpc>
                <a:spcPts val="8800"/>
              </a:lnSpc>
            </a:pPr>
            <a:r>
              <a:rPr lang="en-US" b="true" sz="7040">
                <a:solidFill>
                  <a:srgbClr val="2E3094"/>
                </a:solidFill>
                <a:latin typeface="Tomorrow Bold"/>
                <a:ea typeface="Tomorrow Bold"/>
                <a:cs typeface="Tomorrow Bold"/>
                <a:sym typeface="Tomorrow Bold"/>
              </a:rPr>
              <a:t>DEVCORE: ONDE CADA LINHA DE CÓDIGO VIRA SOLUÇÃO, E CADA DESAFIO VIRA EVOLUÇÃO.</a:t>
            </a:r>
          </a:p>
          <a:p>
            <a:pPr algn="ctr">
              <a:lnSpc>
                <a:spcPts val="8800"/>
              </a:lnSpc>
            </a:pPr>
          </a:p>
        </p:txBody>
      </p:sp>
      <p:sp>
        <p:nvSpPr>
          <p:cNvPr name="Freeform 11" id="11"/>
          <p:cNvSpPr/>
          <p:nvPr/>
        </p:nvSpPr>
        <p:spPr>
          <a:xfrm flipH="false" flipV="false" rot="0">
            <a:off x="2994522" y="6202945"/>
            <a:ext cx="255207" cy="255207"/>
          </a:xfrm>
          <a:custGeom>
            <a:avLst/>
            <a:gdLst/>
            <a:ahLst/>
            <a:cxnLst/>
            <a:rect r="r" b="b" t="t" l="l"/>
            <a:pathLst>
              <a:path h="255207" w="255207">
                <a:moveTo>
                  <a:pt x="0" y="0"/>
                </a:moveTo>
                <a:lnTo>
                  <a:pt x="255207" y="0"/>
                </a:lnTo>
                <a:lnTo>
                  <a:pt x="255207" y="255208"/>
                </a:lnTo>
                <a:lnTo>
                  <a:pt x="0" y="2552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93719" y="218966"/>
            <a:ext cx="1425999" cy="1454260"/>
          </a:xfrm>
          <a:custGeom>
            <a:avLst/>
            <a:gdLst/>
            <a:ahLst/>
            <a:cxnLst/>
            <a:rect r="r" b="b" t="t" l="l"/>
            <a:pathLst>
              <a:path h="1454260" w="1425999">
                <a:moveTo>
                  <a:pt x="0" y="0"/>
                </a:moveTo>
                <a:lnTo>
                  <a:pt x="1425999" y="0"/>
                </a:lnTo>
                <a:lnTo>
                  <a:pt x="1425999" y="1454259"/>
                </a:lnTo>
                <a:lnTo>
                  <a:pt x="0" y="1454259"/>
                </a:lnTo>
                <a:lnTo>
                  <a:pt x="0" y="0"/>
                </a:lnTo>
                <a:close/>
              </a:path>
            </a:pathLst>
          </a:custGeom>
          <a:blipFill>
            <a:blip r:embed="rId6"/>
            <a:stretch>
              <a:fillRect l="0" t="0" r="-1981" b="0"/>
            </a:stretch>
          </a:blipFill>
        </p:spPr>
      </p:sp>
      <p:sp>
        <p:nvSpPr>
          <p:cNvPr name="TextBox 13" id="13"/>
          <p:cNvSpPr txBox="true"/>
          <p:nvPr/>
        </p:nvSpPr>
        <p:spPr>
          <a:xfrm rot="0">
            <a:off x="6153596" y="6799111"/>
            <a:ext cx="5980807" cy="368300"/>
          </a:xfrm>
          <a:prstGeom prst="rect">
            <a:avLst/>
          </a:prstGeom>
        </p:spPr>
        <p:txBody>
          <a:bodyPr anchor="t" rtlCol="false" tIns="0" lIns="0" bIns="0" rIns="0">
            <a:spAutoFit/>
          </a:bodyPr>
          <a:lstStyle/>
          <a:p>
            <a:pPr algn="ctr">
              <a:lnSpc>
                <a:spcPts val="2800"/>
              </a:lnSpc>
              <a:spcBef>
                <a:spcPct val="0"/>
              </a:spcBef>
            </a:pPr>
            <a:r>
              <a:rPr lang="en-US" sz="2000">
                <a:solidFill>
                  <a:srgbClr val="2E3094"/>
                </a:solidFill>
                <a:latin typeface="Poppins"/>
                <a:ea typeface="Poppins"/>
                <a:cs typeface="Poppins"/>
                <a:sym typeface="Poppins"/>
              </a:rPr>
              <a:t>“Programar é </a:t>
            </a:r>
            <a:r>
              <a:rPr lang="en-US" sz="2000">
                <a:solidFill>
                  <a:srgbClr val="2E3094"/>
                </a:solidFill>
                <a:latin typeface="Poppins"/>
                <a:ea typeface="Poppins"/>
                <a:cs typeface="Poppins"/>
                <a:sym typeface="Poppins"/>
              </a:rPr>
              <a:t>transformar ideias em realidade”</a:t>
            </a:r>
          </a:p>
        </p:txBody>
      </p:sp>
      <p:sp>
        <p:nvSpPr>
          <p:cNvPr name="Freeform 14" id="14"/>
          <p:cNvSpPr/>
          <p:nvPr/>
        </p:nvSpPr>
        <p:spPr>
          <a:xfrm flipH="false" flipV="false" rot="0">
            <a:off x="16506250" y="7167411"/>
            <a:ext cx="1506100" cy="1506100"/>
          </a:xfrm>
          <a:custGeom>
            <a:avLst/>
            <a:gdLst/>
            <a:ahLst/>
            <a:cxnLst/>
            <a:rect r="r" b="b" t="t" l="l"/>
            <a:pathLst>
              <a:path h="1506100" w="1506100">
                <a:moveTo>
                  <a:pt x="0" y="0"/>
                </a:moveTo>
                <a:lnTo>
                  <a:pt x="1506100" y="0"/>
                </a:lnTo>
                <a:lnTo>
                  <a:pt x="1506100" y="1506100"/>
                </a:lnTo>
                <a:lnTo>
                  <a:pt x="0" y="1506100"/>
                </a:lnTo>
                <a:lnTo>
                  <a:pt x="0" y="0"/>
                </a:lnTo>
                <a:close/>
              </a:path>
            </a:pathLst>
          </a:custGeom>
          <a:blipFill>
            <a:blip r:embed="rId7"/>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DAG6dFphhO4</dc:identifier>
  <dcterms:modified xsi:type="dcterms:W3CDTF">2011-08-01T06:04:30Z</dcterms:modified>
  <cp:revision>1</cp:revision>
  <dc:title>Dev Core</dc:title>
</cp:coreProperties>
</file>